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7" r:id="rId2"/>
    <p:sldId id="280" r:id="rId3"/>
    <p:sldId id="269" r:id="rId4"/>
    <p:sldId id="270" r:id="rId5"/>
    <p:sldId id="271" r:id="rId6"/>
    <p:sldId id="272" r:id="rId7"/>
    <p:sldId id="274" r:id="rId8"/>
    <p:sldId id="275" r:id="rId9"/>
    <p:sldId id="276" r:id="rId10"/>
    <p:sldId id="277" r:id="rId11"/>
    <p:sldId id="278" r:id="rId12"/>
    <p:sldId id="279"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218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A0D2F-6C5E-54E0-C739-3E833BFCC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FD237-9C82-0245-BC5C-EB7ED6CA26DF}"/>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74B7987B-48FC-C05A-8763-42E1729C814D}"/>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FB402791-BF05-3AC0-D897-A89EBD070C7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62905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4B7A-E799-AF26-94D1-545C1A97F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DAFA4-9151-0535-3714-04A0F0F26F66}"/>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109E7A93-ED7C-A538-52B6-C7D8B2615C03}"/>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0AB56AED-E188-0509-21D4-5D103302C79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10341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10CF6-D852-4D12-D18A-9F3D1AB8F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C5AAE-30A0-411D-EEC3-E2FDF30F9FB4}"/>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0C2B719B-BFAB-7ABA-39C8-4D36E48F4968}"/>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A91C98E4-1268-4F75-D837-7D00B54C0B8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50995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A4399-C76E-5A19-9BDB-81ACD9A3B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3535C-3439-96B4-0557-13B242EAA995}"/>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9BE4B77E-1785-1669-30BC-6D423C66771E}"/>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9897A0A1-83F6-65A6-C0AF-36761B157B0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57124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0CB4E-681A-C4D6-0CEE-DB9319487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CD130-98AA-D0B4-51C7-F921F58E9F18}"/>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44F90788-6748-3567-3C0E-EBDCC43A2374}"/>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11F9DB66-F7EA-5EBC-7029-054040025DC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30238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A895E-BB36-A53D-9AED-F764A5519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E7318-3D70-8942-6173-4C1771C64C82}"/>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F502D632-68F8-24DE-A102-2E448D05A5F7}"/>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7C414080-85AA-5FB1-6B4A-B116F545A71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73690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8F31-7008-F455-2E0C-BA150BCD7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B012D-4B8D-9849-5BCA-2AEED43DA464}"/>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C2AEA46A-417D-885C-8300-7230774A46F8}"/>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21241F3B-190E-AE08-5DDB-B8A570396B5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45940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C693A-2DCF-21D0-552C-88D54984C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2F1CB-2248-C2A3-BBE6-6307C117A86D}"/>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6E63F262-A180-22DB-874C-CAFE00FCFB9D}"/>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28B96E96-3094-C891-527A-C59E3122FAA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79339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477F-5FFA-A6F5-D1AD-6C5ACDF23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0B042-F816-8074-CF02-C249B7EABED3}"/>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C9CBE644-95CD-4EA6-2EC8-3216C484611A}"/>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34BD2900-2631-494A-9E40-5305AADCEE2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11255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4A5F3-441F-372F-8784-53A711395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E5118-75A9-1915-6B38-7CFF8E2F5478}"/>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EED3596A-2F85-1FD8-F900-2C196C6D9172}"/>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9F94B0BB-77C2-1815-1978-61DBC8736F8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49129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D2E5A-F212-DA3A-5B79-5F9388EC5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9509A-835B-903F-B021-2E8C7107BC9B}"/>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03EB7C3C-444D-86B2-E0F6-C568297DB2E4}"/>
              </a:ext>
            </a:extLst>
          </p:cNvPr>
          <p:cNvSpPr>
            <a:spLocks noGrp="1"/>
          </p:cNvSpPr>
          <p:nvPr>
            <p:ph type="body" idx="1"/>
          </p:nvPr>
        </p:nvSpPr>
        <p:spPr/>
        <p:txBody>
          <a:bodyPr/>
          <a:lstStyle/>
          <a:p>
            <a:r>
              <a:rPr lang="en-US" dirty="0"/>
              <a:t>Las CNN funcionan muy bien, pero no está claro por qué: ¿los pesos que aprenden o la arquitectura? El scattering las separa: es una CNN con filtros fijos, cero parámetros. Si compite con una entrenada, el mérito es de la arquitectura.</a:t>
            </a:r>
          </a:p>
        </p:txBody>
      </p:sp>
      <p:sp>
        <p:nvSpPr>
          <p:cNvPr id="4" name="Slide Number Placeholder 3">
            <a:extLst>
              <a:ext uri="{FF2B5EF4-FFF2-40B4-BE49-F238E27FC236}">
                <a16:creationId xmlns:a16="http://schemas.microsoft.com/office/drawing/2014/main" id="{86EB96BB-9CE5-804D-D0AD-06EB1FE7A37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83449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3" name="Text 1">
            <a:extLst>
              <a:ext uri="{FF2B5EF4-FFF2-40B4-BE49-F238E27FC236}">
                <a16:creationId xmlns:a16="http://schemas.microsoft.com/office/drawing/2014/main" id="{91D0F925-6500-89E8-4D11-5CBAE16F1928}"/>
              </a:ext>
            </a:extLst>
          </p:cNvPr>
          <p:cNvSpPr/>
          <p:nvPr/>
        </p:nvSpPr>
        <p:spPr>
          <a:xfrm>
            <a:off x="658368" y="1683876"/>
            <a:ext cx="10881360" cy="1920240"/>
          </a:xfrm>
          <a:prstGeom prst="rect">
            <a:avLst/>
          </a:prstGeom>
          <a:noFill/>
          <a:ln/>
        </p:spPr>
        <p:txBody>
          <a:bodyPr wrap="square" lIns="0" tIns="0" rIns="0" bIns="0" rtlCol="0" anchor="ctr"/>
          <a:lstStyle/>
          <a:p>
            <a:pPr marL="0" indent="0" algn="ctr">
              <a:lnSpc>
                <a:spcPts val="4800"/>
              </a:lnSpc>
              <a:buNone/>
            </a:pPr>
            <a:r>
              <a:rPr lang="en-US" sz="4400" b="1" dirty="0">
                <a:latin typeface="Merriweather" panose="00000500000000000000" pitchFamily="2" charset="0"/>
                <a:ea typeface="Cambria" pitchFamily="34" charset="-122"/>
                <a:cs typeface="Cambria" pitchFamily="34" charset="-120"/>
              </a:rPr>
              <a:t>Transformadas de scattering:</a:t>
            </a:r>
            <a:endParaRPr lang="en-US" sz="4400" dirty="0">
              <a:latin typeface="Merriweather" panose="00000500000000000000" pitchFamily="2" charset="0"/>
            </a:endParaRPr>
          </a:p>
          <a:p>
            <a:pPr marL="0" indent="0" algn="ctr">
              <a:lnSpc>
                <a:spcPts val="4800"/>
              </a:lnSpc>
              <a:buNone/>
            </a:pPr>
            <a:r>
              <a:rPr lang="en-US" sz="4400" b="1" dirty="0">
                <a:latin typeface="Merriweather" panose="00000500000000000000" pitchFamily="2" charset="0"/>
                <a:ea typeface="Cambria" pitchFamily="34" charset="-122"/>
                <a:cs typeface="Cambria" pitchFamily="34" charset="-120"/>
              </a:rPr>
              <a:t>invarianza sin aprendizaje</a:t>
            </a:r>
            <a:endParaRPr lang="en-US" sz="4400" dirty="0">
              <a:latin typeface="Merriweather" panose="00000500000000000000" pitchFamily="2" charset="0"/>
            </a:endParaRPr>
          </a:p>
        </p:txBody>
      </p:sp>
      <p:sp>
        <p:nvSpPr>
          <p:cNvPr id="15" name="Text 0">
            <a:extLst>
              <a:ext uri="{FF2B5EF4-FFF2-40B4-BE49-F238E27FC236}">
                <a16:creationId xmlns:a16="http://schemas.microsoft.com/office/drawing/2014/main" id="{CB5790C5-0A5A-C761-8C82-B1B6756D565A}"/>
              </a:ext>
            </a:extLst>
          </p:cNvPr>
          <p:cNvSpPr/>
          <p:nvPr/>
        </p:nvSpPr>
        <p:spPr>
          <a:xfrm>
            <a:off x="609600" y="1325880"/>
            <a:ext cx="10972800" cy="365760"/>
          </a:xfrm>
          <a:prstGeom prst="rect">
            <a:avLst/>
          </a:prstGeom>
          <a:noFill/>
          <a:ln/>
        </p:spPr>
        <p:txBody>
          <a:bodyPr wrap="square" lIns="0" tIns="0" rIns="0" bIns="0" rtlCol="0" anchor="ctr"/>
          <a:lstStyle/>
          <a:p>
            <a:pPr marL="0" indent="0" algn="ctr">
              <a:buNone/>
            </a:pPr>
            <a:r>
              <a:rPr lang="en-US" sz="1300" b="1" kern="0" spc="300" dirty="0">
                <a:latin typeface="Merriweather" panose="00000500000000000000" pitchFamily="2" charset="0"/>
                <a:ea typeface="Calibri" pitchFamily="34" charset="-122"/>
                <a:cs typeface="Calibri" pitchFamily="34" charset="-120"/>
              </a:rPr>
              <a:t>MATEMÁTICAS DEL APRENDIZAJE DE MÁQUINAS</a:t>
            </a:r>
            <a:endParaRPr lang="en-US" sz="1300" dirty="0">
              <a:latin typeface="Merriweather" panose="00000500000000000000" pitchFamily="2" charset="0"/>
            </a:endParaRPr>
          </a:p>
        </p:txBody>
      </p:sp>
      <p:sp>
        <p:nvSpPr>
          <p:cNvPr id="17" name="Text 2">
            <a:extLst>
              <a:ext uri="{FF2B5EF4-FFF2-40B4-BE49-F238E27FC236}">
                <a16:creationId xmlns:a16="http://schemas.microsoft.com/office/drawing/2014/main" id="{B98CD76E-F40C-45F5-7FA5-BB4A1EA7F2E5}"/>
              </a:ext>
            </a:extLst>
          </p:cNvPr>
          <p:cNvSpPr/>
          <p:nvPr/>
        </p:nvSpPr>
        <p:spPr>
          <a:xfrm>
            <a:off x="1066800" y="3687792"/>
            <a:ext cx="10058400" cy="548640"/>
          </a:xfrm>
          <a:prstGeom prst="rect">
            <a:avLst/>
          </a:prstGeom>
          <a:noFill/>
          <a:ln/>
        </p:spPr>
        <p:txBody>
          <a:bodyPr wrap="square" lIns="0" tIns="0" rIns="0" bIns="0" rtlCol="0" anchor="ctr"/>
          <a:lstStyle/>
          <a:p>
            <a:pPr marL="0" indent="0" algn="ctr">
              <a:buNone/>
            </a:pPr>
            <a:r>
              <a:rPr lang="en-US" sz="1900" i="1" dirty="0">
                <a:solidFill>
                  <a:schemeClr val="tx1">
                    <a:lumMod val="75000"/>
                    <a:lumOff val="25000"/>
                  </a:schemeClr>
                </a:solidFill>
                <a:latin typeface="Merriweather" panose="00000500000000000000" pitchFamily="2" charset="0"/>
                <a:ea typeface="Calibri" pitchFamily="34" charset="-122"/>
                <a:cs typeface="Calibri" pitchFamily="34" charset="-120"/>
              </a:rPr>
              <a:t>Una réplica del experimento de pocos datos de Bruna y Mallat</a:t>
            </a:r>
            <a:endParaRPr lang="en-US" sz="1900" dirty="0">
              <a:solidFill>
                <a:schemeClr val="tx1">
                  <a:lumMod val="75000"/>
                  <a:lumOff val="25000"/>
                </a:schemeClr>
              </a:solidFill>
              <a:latin typeface="Merriweather" panose="00000500000000000000" pitchFamily="2" charset="0"/>
            </a:endParaRPr>
          </a:p>
        </p:txBody>
      </p:sp>
      <p:sp>
        <p:nvSpPr>
          <p:cNvPr id="19" name="Text 4">
            <a:extLst>
              <a:ext uri="{FF2B5EF4-FFF2-40B4-BE49-F238E27FC236}">
                <a16:creationId xmlns:a16="http://schemas.microsoft.com/office/drawing/2014/main" id="{21667E37-6B94-27CB-C0B1-B587737B8CFD}"/>
              </a:ext>
            </a:extLst>
          </p:cNvPr>
          <p:cNvSpPr/>
          <p:nvPr/>
        </p:nvSpPr>
        <p:spPr>
          <a:xfrm>
            <a:off x="609600" y="4945524"/>
            <a:ext cx="10881360" cy="457200"/>
          </a:xfrm>
          <a:prstGeom prst="rect">
            <a:avLst/>
          </a:prstGeom>
          <a:noFill/>
          <a:ln/>
        </p:spPr>
        <p:txBody>
          <a:bodyPr wrap="square" lIns="0" tIns="0" rIns="0" bIns="0" rtlCol="0" anchor="ctr"/>
          <a:lstStyle/>
          <a:p>
            <a:pPr marL="0" indent="0" algn="ctr">
              <a:buNone/>
            </a:pPr>
            <a:r>
              <a:rPr lang="en-US" sz="1500" dirty="0">
                <a:solidFill>
                  <a:schemeClr val="tx1">
                    <a:lumMod val="75000"/>
                    <a:lumOff val="25000"/>
                  </a:schemeClr>
                </a:solidFill>
                <a:latin typeface="Merriweather" panose="00000500000000000000" pitchFamily="2" charset="0"/>
                <a:ea typeface="Calibri" pitchFamily="34" charset="-122"/>
                <a:cs typeface="Calibri" pitchFamily="34" charset="-120"/>
              </a:rPr>
              <a:t>Andrés Felipe Barreto Farfan</a:t>
            </a:r>
            <a:endParaRPr lang="en-US" sz="1500" dirty="0">
              <a:solidFill>
                <a:schemeClr val="tx1">
                  <a:lumMod val="75000"/>
                  <a:lumOff val="25000"/>
                </a:schemeClr>
              </a:solidFill>
              <a:latin typeface="Merriweather"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8EEE0A-612C-9218-5869-87723DCD4EC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16792191-1C4A-06A6-CB7A-EF2BF3B79CDA}"/>
              </a:ext>
            </a:extLst>
          </p:cNvPr>
          <p:cNvSpPr/>
          <p:nvPr/>
        </p:nvSpPr>
        <p:spPr>
          <a:xfrm>
            <a:off x="563880" y="398715"/>
            <a:ext cx="11064240" cy="822960"/>
          </a:xfrm>
          <a:prstGeom prst="rect">
            <a:avLst/>
          </a:prstGeom>
          <a:noFill/>
          <a:ln/>
        </p:spPr>
        <p:txBody>
          <a:bodyPr wrap="square" lIns="0" tIns="0" rIns="0" bIns="0" rtlCol="0" anchor="ctr"/>
          <a:lstStyle/>
          <a:p>
            <a:pPr marL="0" indent="0" algn="ctr">
              <a:buNone/>
            </a:pPr>
            <a:r>
              <a:rPr lang="en-US" sz="3600" b="1" dirty="0">
                <a:latin typeface="Merriweather" panose="00000500000000000000" pitchFamily="2" charset="0"/>
                <a:ea typeface="Cambria" pitchFamily="34" charset="-122"/>
                <a:cs typeface="Cambria" pitchFamily="34" charset="-120"/>
              </a:rPr>
              <a:t>¿Por qué funcionan las redes convolucionales?</a:t>
            </a:r>
            <a:endParaRPr lang="en-US" sz="3600" dirty="0">
              <a:latin typeface="Merriweather" panose="00000500000000000000" pitchFamily="2" charset="0"/>
            </a:endParaRPr>
          </a:p>
        </p:txBody>
      </p:sp>
      <p:pic>
        <p:nvPicPr>
          <p:cNvPr id="5" name="Imagen 4">
            <a:extLst>
              <a:ext uri="{FF2B5EF4-FFF2-40B4-BE49-F238E27FC236}">
                <a16:creationId xmlns:a16="http://schemas.microsoft.com/office/drawing/2014/main" id="{A6DA2306-7697-56BB-5C61-5C3A3F221A51}"/>
              </a:ext>
            </a:extLst>
          </p:cNvPr>
          <p:cNvPicPr>
            <a:picLocks noChangeAspect="1"/>
          </p:cNvPicPr>
          <p:nvPr/>
        </p:nvPicPr>
        <p:blipFill>
          <a:blip r:embed="rId3"/>
          <a:stretch>
            <a:fillRect/>
          </a:stretch>
        </p:blipFill>
        <p:spPr>
          <a:xfrm>
            <a:off x="6923413" y="2496768"/>
            <a:ext cx="4174516" cy="2233366"/>
          </a:xfrm>
          <a:prstGeom prst="rect">
            <a:avLst/>
          </a:prstGeom>
        </p:spPr>
      </p:pic>
      <p:pic>
        <p:nvPicPr>
          <p:cNvPr id="6" name="Imagen 5" descr="What Are Convolutional Neural Networks?">
            <a:extLst>
              <a:ext uri="{FF2B5EF4-FFF2-40B4-BE49-F238E27FC236}">
                <a16:creationId xmlns:a16="http://schemas.microsoft.com/office/drawing/2014/main" id="{8E42F778-2924-5D88-D142-25EAE1741057}"/>
              </a:ext>
            </a:extLst>
          </p:cNvPr>
          <p:cNvPicPr>
            <a:picLocks noChangeAspect="1"/>
          </p:cNvPicPr>
          <p:nvPr/>
        </p:nvPicPr>
        <p:blipFill>
          <a:blip r:embed="rId4"/>
          <a:srcRect l="8648" t="9907" r="5163" b="7754"/>
          <a:stretch>
            <a:fillRect/>
          </a:stretch>
        </p:blipFill>
        <p:spPr>
          <a:xfrm>
            <a:off x="1651978" y="2297770"/>
            <a:ext cx="3516788" cy="2540865"/>
          </a:xfrm>
          <a:prstGeom prst="rect">
            <a:avLst/>
          </a:prstGeom>
        </p:spPr>
      </p:pic>
      <p:sp>
        <p:nvSpPr>
          <p:cNvPr id="8" name="CuadroTexto 7">
            <a:extLst>
              <a:ext uri="{FF2B5EF4-FFF2-40B4-BE49-F238E27FC236}">
                <a16:creationId xmlns:a16="http://schemas.microsoft.com/office/drawing/2014/main" id="{6EA8A45E-54DD-9992-D0EF-7E2DCA48DD57}"/>
              </a:ext>
            </a:extLst>
          </p:cNvPr>
          <p:cNvSpPr txBox="1"/>
          <p:nvPr/>
        </p:nvSpPr>
        <p:spPr>
          <a:xfrm>
            <a:off x="7520140" y="1608295"/>
            <a:ext cx="2981062" cy="523220"/>
          </a:xfrm>
          <a:prstGeom prst="rect">
            <a:avLst/>
          </a:prstGeom>
          <a:noFill/>
        </p:spPr>
        <p:txBody>
          <a:bodyPr wrap="square">
            <a:spAutoFit/>
          </a:bodyPr>
          <a:lstStyle/>
          <a:p>
            <a:r>
              <a:rPr lang="es-ES" sz="2800" b="1" i="0" u="none" dirty="0">
                <a:latin typeface="Merriweather" panose="00000500000000000000" pitchFamily="2" charset="0"/>
              </a:rPr>
              <a:t>Arquitectura</a:t>
            </a:r>
            <a:endParaRPr lang="es-ES" sz="1400" dirty="0">
              <a:latin typeface="Merriweather" panose="00000500000000000000" pitchFamily="2" charset="0"/>
            </a:endParaRPr>
          </a:p>
        </p:txBody>
      </p:sp>
      <p:sp>
        <p:nvSpPr>
          <p:cNvPr id="11" name="CuadroTexto 10">
            <a:extLst>
              <a:ext uri="{FF2B5EF4-FFF2-40B4-BE49-F238E27FC236}">
                <a16:creationId xmlns:a16="http://schemas.microsoft.com/office/drawing/2014/main" id="{44B720DC-16BE-2198-370D-2FC8B8BA1D76}"/>
              </a:ext>
            </a:extLst>
          </p:cNvPr>
          <p:cNvSpPr txBox="1"/>
          <p:nvPr/>
        </p:nvSpPr>
        <p:spPr>
          <a:xfrm>
            <a:off x="1537658" y="1608295"/>
            <a:ext cx="2981062" cy="523220"/>
          </a:xfrm>
          <a:prstGeom prst="rect">
            <a:avLst/>
          </a:prstGeom>
          <a:noFill/>
        </p:spPr>
        <p:txBody>
          <a:bodyPr wrap="square">
            <a:spAutoFit/>
          </a:bodyPr>
          <a:lstStyle/>
          <a:p>
            <a:pPr algn="ctr"/>
            <a:r>
              <a:rPr lang="es-ES" sz="2800" b="1" i="0" u="none" dirty="0">
                <a:latin typeface="Merriweather" panose="00000500000000000000" pitchFamily="2" charset="0"/>
              </a:rPr>
              <a:t>Pesos</a:t>
            </a:r>
            <a:endParaRPr lang="es-ES" sz="1400" dirty="0">
              <a:latin typeface="Merriweather" panose="00000500000000000000" pitchFamily="2" charset="0"/>
            </a:endParaRPr>
          </a:p>
        </p:txBody>
      </p:sp>
      <p:sp>
        <p:nvSpPr>
          <p:cNvPr id="17" name="Text 8">
            <a:extLst>
              <a:ext uri="{FF2B5EF4-FFF2-40B4-BE49-F238E27FC236}">
                <a16:creationId xmlns:a16="http://schemas.microsoft.com/office/drawing/2014/main" id="{435CC6F6-66E9-5F87-DF9D-71715F57EF41}"/>
              </a:ext>
            </a:extLst>
          </p:cNvPr>
          <p:cNvSpPr/>
          <p:nvPr/>
        </p:nvSpPr>
        <p:spPr>
          <a:xfrm>
            <a:off x="883920" y="5069249"/>
            <a:ext cx="10424160" cy="548640"/>
          </a:xfrm>
          <a:prstGeom prst="rect">
            <a:avLst/>
          </a:prstGeom>
          <a:noFill/>
          <a:ln/>
        </p:spPr>
        <p:txBody>
          <a:bodyPr wrap="square" lIns="0" tIns="0" rIns="0" bIns="0" rtlCol="0" anchor="ctr"/>
          <a:lstStyle/>
          <a:p>
            <a:pPr marL="0" indent="0">
              <a:buNone/>
            </a:pPr>
            <a:r>
              <a:rPr lang="en-US" sz="2300" b="1" dirty="0">
                <a:solidFill>
                  <a:schemeClr val="tx1">
                    <a:lumMod val="75000"/>
                    <a:lumOff val="25000"/>
                  </a:schemeClr>
                </a:solidFill>
                <a:latin typeface="Merriweather" panose="00000500000000000000" pitchFamily="2" charset="0"/>
                <a:ea typeface="Cambria" pitchFamily="34" charset="-122"/>
                <a:cs typeface="Cambria" pitchFamily="34" charset="-120"/>
              </a:rPr>
              <a:t>El scattering permite separarlas</a:t>
            </a:r>
            <a:endParaRPr lang="en-US" sz="2300" dirty="0">
              <a:solidFill>
                <a:schemeClr val="tx1">
                  <a:lumMod val="75000"/>
                  <a:lumOff val="25000"/>
                </a:schemeClr>
              </a:solidFill>
              <a:latin typeface="Merriweather" panose="00000500000000000000" pitchFamily="2" charset="0"/>
            </a:endParaRPr>
          </a:p>
        </p:txBody>
      </p:sp>
      <p:sp>
        <p:nvSpPr>
          <p:cNvPr id="19" name="Text 9">
            <a:extLst>
              <a:ext uri="{FF2B5EF4-FFF2-40B4-BE49-F238E27FC236}">
                <a16:creationId xmlns:a16="http://schemas.microsoft.com/office/drawing/2014/main" id="{BA67127A-E786-1615-8599-84D2E6F4CEE4}"/>
              </a:ext>
            </a:extLst>
          </p:cNvPr>
          <p:cNvSpPr/>
          <p:nvPr/>
        </p:nvSpPr>
        <p:spPr>
          <a:xfrm>
            <a:off x="883920" y="5411810"/>
            <a:ext cx="10424160" cy="1005840"/>
          </a:xfrm>
          <a:prstGeom prst="rect">
            <a:avLst/>
          </a:prstGeom>
          <a:noFill/>
          <a:ln/>
        </p:spPr>
        <p:txBody>
          <a:bodyPr wrap="square" lIns="0" tIns="0" rIns="0" bIns="0" rtlCol="0" anchor="ctr"/>
          <a:lstStyle/>
          <a:p>
            <a:pPr marL="0" indent="0">
              <a:lnSpc>
                <a:spcPts val="2600"/>
              </a:lnSpc>
              <a:buNone/>
            </a:pPr>
            <a:r>
              <a:rPr lang="en-US" sz="1800" dirty="0">
                <a:solidFill>
                  <a:schemeClr val="tx1">
                    <a:lumMod val="75000"/>
                    <a:lumOff val="25000"/>
                  </a:schemeClr>
                </a:solidFill>
                <a:latin typeface="Merriweather" panose="00000500000000000000" pitchFamily="2" charset="0"/>
                <a:ea typeface="Calibri" pitchFamily="34" charset="-122"/>
                <a:cs typeface="Calibri" pitchFamily="34" charset="-120"/>
              </a:rPr>
              <a:t>Es una red convolucional con los </a:t>
            </a:r>
            <a:r>
              <a:rPr lang="en-US" sz="1800" dirty="0" err="1">
                <a:solidFill>
                  <a:schemeClr val="tx1">
                    <a:lumMod val="75000"/>
                    <a:lumOff val="25000"/>
                  </a:schemeClr>
                </a:solidFill>
                <a:latin typeface="Merriweather" panose="00000500000000000000" pitchFamily="2" charset="0"/>
                <a:ea typeface="Calibri" pitchFamily="34" charset="-122"/>
                <a:cs typeface="Calibri" pitchFamily="34" charset="-120"/>
              </a:rPr>
              <a:t>filtros</a:t>
            </a:r>
            <a:r>
              <a:rPr lang="en-US" sz="1800" dirty="0">
                <a:solidFill>
                  <a:schemeClr val="tx1">
                    <a:lumMod val="75000"/>
                    <a:lumOff val="25000"/>
                  </a:schemeClr>
                </a:solidFill>
                <a:latin typeface="Merriweather" panose="00000500000000000000" pitchFamily="2" charset="0"/>
                <a:ea typeface="Calibri" pitchFamily="34" charset="-122"/>
                <a:cs typeface="Calibri" pitchFamily="34" charset="-120"/>
              </a:rPr>
              <a:t> </a:t>
            </a:r>
            <a:r>
              <a:rPr lang="en-US" sz="1800" dirty="0" err="1">
                <a:solidFill>
                  <a:schemeClr val="tx1">
                    <a:lumMod val="75000"/>
                    <a:lumOff val="25000"/>
                  </a:schemeClr>
                </a:solidFill>
                <a:latin typeface="Merriweather" panose="00000500000000000000" pitchFamily="2" charset="0"/>
                <a:ea typeface="Calibri" pitchFamily="34" charset="-122"/>
                <a:cs typeface="Calibri" pitchFamily="34" charset="-120"/>
              </a:rPr>
              <a:t>fijados</a:t>
            </a:r>
            <a:r>
              <a:rPr lang="en-US" sz="1800" dirty="0">
                <a:solidFill>
                  <a:schemeClr val="tx1">
                    <a:lumMod val="75000"/>
                    <a:lumOff val="25000"/>
                  </a:schemeClr>
                </a:solidFill>
                <a:latin typeface="Merriweather" panose="00000500000000000000" pitchFamily="2" charset="0"/>
                <a:ea typeface="Calibri" pitchFamily="34" charset="-122"/>
                <a:cs typeface="Calibri" pitchFamily="34" charset="-120"/>
              </a:rPr>
              <a:t>. Si compite con una red entrenada, el mérito es de la arquitectura.</a:t>
            </a:r>
            <a:endParaRPr lang="en-US" sz="1800" dirty="0">
              <a:solidFill>
                <a:schemeClr val="tx1">
                  <a:lumMod val="75000"/>
                  <a:lumOff val="25000"/>
                </a:schemeClr>
              </a:solidFill>
              <a:latin typeface="Merriweather" panose="00000500000000000000" pitchFamily="2" charset="0"/>
            </a:endParaRPr>
          </a:p>
        </p:txBody>
      </p:sp>
    </p:spTree>
    <p:extLst>
      <p:ext uri="{BB962C8B-B14F-4D97-AF65-F5344CB8AC3E}">
        <p14:creationId xmlns:p14="http://schemas.microsoft.com/office/powerpoint/2010/main" val="3989924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BF937A2-BEB1-C295-309F-9F1B1BD2FE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F47D14-22AB-BE35-648A-9B1F3EB50AC9}"/>
              </a:ext>
            </a:extLst>
          </p:cNvPr>
          <p:cNvSpPr/>
          <p:nvPr/>
        </p:nvSpPr>
        <p:spPr>
          <a:xfrm>
            <a:off x="563880" y="536318"/>
            <a:ext cx="11064240" cy="777240"/>
          </a:xfrm>
          <a:prstGeom prst="rect">
            <a:avLst/>
          </a:prstGeom>
          <a:noFill/>
          <a:ln/>
        </p:spPr>
        <p:txBody>
          <a:bodyPr wrap="square" lIns="0" tIns="0" rIns="0" bIns="0" rtlCol="0" anchor="ctr"/>
          <a:lstStyle/>
          <a:p>
            <a:pPr marL="0" indent="0" algn="ctr">
              <a:buNone/>
            </a:pPr>
            <a:r>
              <a:rPr lang="en-US" sz="3600" b="1" dirty="0" err="1">
                <a:latin typeface="Merriweather" panose="00000500000000000000" pitchFamily="2" charset="0"/>
              </a:rPr>
              <a:t>Construcción</a:t>
            </a:r>
            <a:r>
              <a:rPr lang="en-US" sz="3600" b="1" dirty="0">
                <a:latin typeface="Merriweather" panose="00000500000000000000" pitchFamily="2" charset="0"/>
              </a:rPr>
              <a:t> de la </a:t>
            </a:r>
            <a:r>
              <a:rPr lang="en-US" sz="3600" b="1" dirty="0" err="1">
                <a:latin typeface="Merriweather" panose="00000500000000000000" pitchFamily="2" charset="0"/>
              </a:rPr>
              <a:t>transformada</a:t>
            </a:r>
            <a:endParaRPr lang="en-US" sz="3600" b="1" dirty="0">
              <a:latin typeface="Merriweather" panose="00000500000000000000" pitchFamily="2" charset="0"/>
            </a:endParaRPr>
          </a:p>
        </p:txBody>
      </p:sp>
      <p:sp>
        <p:nvSpPr>
          <p:cNvPr id="10" name="TextBox 5">
            <a:extLst>
              <a:ext uri="{FF2B5EF4-FFF2-40B4-BE49-F238E27FC236}">
                <a16:creationId xmlns:a16="http://schemas.microsoft.com/office/drawing/2014/main" id="{BBB29BA1-B7D2-ECFD-4E0B-C0FC6E32AF9C}"/>
              </a:ext>
            </a:extLst>
          </p:cNvPr>
          <p:cNvSpPr txBox="1"/>
          <p:nvPr/>
        </p:nvSpPr>
        <p:spPr>
          <a:xfrm>
            <a:off x="1757333" y="2657469"/>
            <a:ext cx="1390173" cy="300082"/>
          </a:xfrm>
          <a:prstGeom prst="rect">
            <a:avLst/>
          </a:prstGeom>
          <a:noFill/>
        </p:spPr>
        <p:txBody>
          <a:bodyPr wrap="square" lIns="0" tIns="0" rIns="0" bIns="0" anchor="t">
            <a:spAutoFit/>
          </a:bodyPr>
          <a:lstStyle/>
          <a:p>
            <a:pPr algn="ctr"/>
            <a:r>
              <a:rPr sz="1950" b="1" i="0" u="none">
                <a:latin typeface="Merriweather" panose="00000500000000000000" pitchFamily="2" charset="0"/>
              </a:rPr>
              <a:t>1. Wavelets</a:t>
            </a:r>
          </a:p>
        </p:txBody>
      </p:sp>
      <p:sp>
        <p:nvSpPr>
          <p:cNvPr id="12" name="TextBox 6">
            <a:extLst>
              <a:ext uri="{FF2B5EF4-FFF2-40B4-BE49-F238E27FC236}">
                <a16:creationId xmlns:a16="http://schemas.microsoft.com/office/drawing/2014/main" id="{C5282124-1C22-C7F6-15E3-D0731F5BDEFD}"/>
              </a:ext>
            </a:extLst>
          </p:cNvPr>
          <p:cNvSpPr txBox="1"/>
          <p:nvPr/>
        </p:nvSpPr>
        <p:spPr>
          <a:xfrm>
            <a:off x="1055520" y="3162294"/>
            <a:ext cx="2793950" cy="1519903"/>
          </a:xfrm>
          <a:prstGeom prst="rect">
            <a:avLst/>
          </a:prstGeom>
          <a:noFill/>
        </p:spPr>
        <p:txBody>
          <a:bodyPr wrap="square" lIns="0" tIns="0" rIns="0" bIns="0" anchor="t">
            <a:spAutoFit/>
          </a:bodyPr>
          <a:lstStyle/>
          <a:p>
            <a:pPr algn="ctr">
              <a:lnSpc>
                <a:spcPts val="2025"/>
              </a:lnSpc>
            </a:pPr>
            <a:r>
              <a:rPr sz="1350" b="0" i="0" u="none">
                <a:latin typeface="Merriweather" panose="00000500000000000000" pitchFamily="2" charset="0"/>
              </a:rPr>
              <a:t>Convolución con wavelets direccionales. Extraen los detalles (bordes, trazos) a diferentes escalas y orientaciones, eliminando fondos constantes.</a:t>
            </a:r>
          </a:p>
        </p:txBody>
      </p:sp>
      <p:sp>
        <p:nvSpPr>
          <p:cNvPr id="14" name="TextBox 7">
            <a:extLst>
              <a:ext uri="{FF2B5EF4-FFF2-40B4-BE49-F238E27FC236}">
                <a16:creationId xmlns:a16="http://schemas.microsoft.com/office/drawing/2014/main" id="{ED2523B6-CF01-C218-71F2-D86314DDD6CA}"/>
              </a:ext>
            </a:extLst>
          </p:cNvPr>
          <p:cNvSpPr txBox="1"/>
          <p:nvPr/>
        </p:nvSpPr>
        <p:spPr>
          <a:xfrm>
            <a:off x="5558791" y="2657469"/>
            <a:ext cx="1280160" cy="300082"/>
          </a:xfrm>
          <a:prstGeom prst="rect">
            <a:avLst/>
          </a:prstGeom>
          <a:noFill/>
        </p:spPr>
        <p:txBody>
          <a:bodyPr wrap="square" lIns="0" tIns="0" rIns="0" bIns="0" anchor="t">
            <a:spAutoFit/>
          </a:bodyPr>
          <a:lstStyle/>
          <a:p>
            <a:pPr algn="ctr"/>
            <a:r>
              <a:rPr sz="1950" b="1" i="0" u="none">
                <a:latin typeface="Merriweather" panose="00000500000000000000" pitchFamily="2" charset="0"/>
              </a:rPr>
              <a:t>2. Módulo</a:t>
            </a:r>
          </a:p>
        </p:txBody>
      </p:sp>
      <p:sp>
        <p:nvSpPr>
          <p:cNvPr id="20" name="TextBox 8">
            <a:extLst>
              <a:ext uri="{FF2B5EF4-FFF2-40B4-BE49-F238E27FC236}">
                <a16:creationId xmlns:a16="http://schemas.microsoft.com/office/drawing/2014/main" id="{5E848E66-AA85-ED00-41FA-BF37074CFC0F}"/>
              </a:ext>
            </a:extLst>
          </p:cNvPr>
          <p:cNvSpPr txBox="1"/>
          <p:nvPr/>
        </p:nvSpPr>
        <p:spPr>
          <a:xfrm>
            <a:off x="4801970" y="3162294"/>
            <a:ext cx="2793950" cy="1285875"/>
          </a:xfrm>
          <a:prstGeom prst="rect">
            <a:avLst/>
          </a:prstGeom>
          <a:noFill/>
        </p:spPr>
        <p:txBody>
          <a:bodyPr wrap="square" lIns="0" tIns="0" rIns="0" bIns="0" anchor="t">
            <a:spAutoFit/>
          </a:bodyPr>
          <a:lstStyle/>
          <a:p>
            <a:pPr algn="ctr">
              <a:lnSpc>
                <a:spcPts val="2025"/>
              </a:lnSpc>
            </a:pPr>
            <a:r>
              <a:rPr sz="1350" b="0" i="0" u="none">
                <a:latin typeface="Merriweather" panose="00000500000000000000" pitchFamily="2" charset="0"/>
              </a:rPr>
              <a:t>Aplica el valor absoluto, rescatando el detalle fino y estabilizando la señal lenta para que sobreviva al posterior promediado.</a:t>
            </a:r>
          </a:p>
        </p:txBody>
      </p:sp>
      <p:sp>
        <p:nvSpPr>
          <p:cNvPr id="24" name="TextBox 9">
            <a:extLst>
              <a:ext uri="{FF2B5EF4-FFF2-40B4-BE49-F238E27FC236}">
                <a16:creationId xmlns:a16="http://schemas.microsoft.com/office/drawing/2014/main" id="{A403165F-15A4-CBD7-5AB1-1D0BD23F4245}"/>
              </a:ext>
            </a:extLst>
          </p:cNvPr>
          <p:cNvSpPr txBox="1"/>
          <p:nvPr/>
        </p:nvSpPr>
        <p:spPr>
          <a:xfrm>
            <a:off x="9025206" y="2657469"/>
            <a:ext cx="1840230" cy="300082"/>
          </a:xfrm>
          <a:prstGeom prst="rect">
            <a:avLst/>
          </a:prstGeom>
          <a:noFill/>
        </p:spPr>
        <p:txBody>
          <a:bodyPr wrap="square" lIns="0" tIns="0" rIns="0" bIns="0" anchor="t">
            <a:spAutoFit/>
          </a:bodyPr>
          <a:lstStyle/>
          <a:p>
            <a:pPr algn="ctr"/>
            <a:r>
              <a:rPr sz="1950" b="1" i="0" u="none">
                <a:latin typeface="Merriweather" panose="00000500000000000000" pitchFamily="2" charset="0"/>
              </a:rPr>
              <a:t>3. Promediado</a:t>
            </a:r>
          </a:p>
        </p:txBody>
      </p:sp>
      <p:sp>
        <p:nvSpPr>
          <p:cNvPr id="26" name="TextBox 10">
            <a:extLst>
              <a:ext uri="{FF2B5EF4-FFF2-40B4-BE49-F238E27FC236}">
                <a16:creationId xmlns:a16="http://schemas.microsoft.com/office/drawing/2014/main" id="{3D61262C-A462-277E-6F08-A28F0FC379F2}"/>
              </a:ext>
            </a:extLst>
          </p:cNvPr>
          <p:cNvSpPr txBox="1"/>
          <p:nvPr/>
        </p:nvSpPr>
        <p:spPr>
          <a:xfrm>
            <a:off x="8548420" y="3162294"/>
            <a:ext cx="2793950" cy="1006942"/>
          </a:xfrm>
          <a:prstGeom prst="rect">
            <a:avLst/>
          </a:prstGeom>
          <a:noFill/>
        </p:spPr>
        <p:txBody>
          <a:bodyPr wrap="square" lIns="0" tIns="0" rIns="0" bIns="0" anchor="t">
            <a:spAutoFit/>
          </a:bodyPr>
          <a:lstStyle/>
          <a:p>
            <a:pPr algn="ctr">
              <a:lnSpc>
                <a:spcPts val="2025"/>
              </a:lnSpc>
            </a:pPr>
            <a:r>
              <a:rPr sz="1350" b="0" i="0" u="none">
                <a:latin typeface="Merriweather" panose="00000500000000000000" pitchFamily="2" charset="0"/>
              </a:rPr>
              <a:t>Filtro paso bajo (</a:t>
            </a:r>
            <a:r>
              <a:rPr sz="1350" b="0" i="1" u="none">
                <a:latin typeface="Merriweather" panose="00000500000000000000" pitchFamily="2" charset="0"/>
              </a:rPr>
              <a:t>φJ</a:t>
            </a:r>
            <a:r>
              <a:rPr sz="1350" b="0" i="0" u="none">
                <a:latin typeface="Merriweather" panose="00000500000000000000" pitchFamily="2" charset="0"/>
              </a:rPr>
              <a:t>) que difumina la imagen a una escala </a:t>
            </a:r>
            <a:r>
              <a:rPr sz="1350" b="0" i="1" u="none">
                <a:latin typeface="Merriweather" panose="00000500000000000000" pitchFamily="2" charset="0"/>
              </a:rPr>
              <a:t>2J</a:t>
            </a:r>
            <a:r>
              <a:rPr sz="1350" b="0" i="0" u="none">
                <a:latin typeface="Merriweather" panose="00000500000000000000" pitchFamily="2" charset="0"/>
              </a:rPr>
              <a:t>, otorgando invarianza a las traslaciones.</a:t>
            </a:r>
          </a:p>
        </p:txBody>
      </p:sp>
    </p:spTree>
    <p:extLst>
      <p:ext uri="{BB962C8B-B14F-4D97-AF65-F5344CB8AC3E}">
        <p14:creationId xmlns:p14="http://schemas.microsoft.com/office/powerpoint/2010/main" val="407891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456F7A-0017-2535-1DC5-577C05E354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81210B-9F11-A5DF-64AE-CDAAF3339010}"/>
              </a:ext>
            </a:extLst>
          </p:cNvPr>
          <p:cNvSpPr/>
          <p:nvPr/>
        </p:nvSpPr>
        <p:spPr>
          <a:xfrm>
            <a:off x="563880" y="536318"/>
            <a:ext cx="11064240" cy="777240"/>
          </a:xfrm>
          <a:prstGeom prst="rect">
            <a:avLst/>
          </a:prstGeom>
          <a:noFill/>
          <a:ln/>
        </p:spPr>
        <p:txBody>
          <a:bodyPr wrap="square" lIns="0" tIns="0" rIns="0" bIns="0" rtlCol="0" anchor="ctr"/>
          <a:lstStyle/>
          <a:p>
            <a:pPr algn="ctr"/>
            <a:r>
              <a:rPr lang="es-ES" sz="3600" b="1" dirty="0">
                <a:solidFill>
                  <a:srgbClr val="002B49"/>
                </a:solidFill>
                <a:latin typeface="Merriweather"/>
              </a:rPr>
              <a:t>La transformada de </a:t>
            </a:r>
            <a:r>
              <a:rPr lang="es-ES" sz="3600" b="1" dirty="0" err="1">
                <a:solidFill>
                  <a:srgbClr val="002B49"/>
                </a:solidFill>
                <a:latin typeface="Merriweather"/>
              </a:rPr>
              <a:t>scattering</a:t>
            </a:r>
            <a:endParaRPr lang="es-ES" sz="3600" b="1" dirty="0">
              <a:solidFill>
                <a:srgbClr val="002B49"/>
              </a:solidFill>
              <a:latin typeface="Merriweather"/>
            </a:endParaRPr>
          </a:p>
        </p:txBody>
      </p:sp>
      <p:pic>
        <p:nvPicPr>
          <p:cNvPr id="4" name="Imagen 3">
            <a:extLst>
              <a:ext uri="{FF2B5EF4-FFF2-40B4-BE49-F238E27FC236}">
                <a16:creationId xmlns:a16="http://schemas.microsoft.com/office/drawing/2014/main" id="{7DD2EBAF-BF96-A6B3-45D9-C3416E2139CD}"/>
              </a:ext>
            </a:extLst>
          </p:cNvPr>
          <p:cNvPicPr>
            <a:picLocks noChangeAspect="1"/>
          </p:cNvPicPr>
          <p:nvPr/>
        </p:nvPicPr>
        <p:blipFill>
          <a:blip r:embed="rId3"/>
          <a:stretch>
            <a:fillRect/>
          </a:stretch>
        </p:blipFill>
        <p:spPr>
          <a:xfrm>
            <a:off x="4468130" y="3874424"/>
            <a:ext cx="3255740" cy="594958"/>
          </a:xfrm>
          <a:prstGeom prst="rect">
            <a:avLst/>
          </a:prstGeom>
        </p:spPr>
      </p:pic>
      <p:sp>
        <p:nvSpPr>
          <p:cNvPr id="6" name="TextBox 2">
            <a:extLst>
              <a:ext uri="{FF2B5EF4-FFF2-40B4-BE49-F238E27FC236}">
                <a16:creationId xmlns:a16="http://schemas.microsoft.com/office/drawing/2014/main" id="{F3F47C9C-D4BC-FD3E-3125-6629120D19F3}"/>
              </a:ext>
            </a:extLst>
          </p:cNvPr>
          <p:cNvSpPr txBox="1"/>
          <p:nvPr/>
        </p:nvSpPr>
        <p:spPr>
          <a:xfrm>
            <a:off x="666750" y="1382815"/>
            <a:ext cx="10858500" cy="273601"/>
          </a:xfrm>
          <a:prstGeom prst="rect">
            <a:avLst/>
          </a:prstGeom>
          <a:noFill/>
        </p:spPr>
        <p:txBody>
          <a:bodyPr wrap="square" lIns="0" tIns="0" rIns="0" bIns="0" anchor="t">
            <a:spAutoFit/>
          </a:bodyPr>
          <a:lstStyle/>
          <a:p>
            <a:pPr algn="l">
              <a:lnSpc>
                <a:spcPts val="2250"/>
              </a:lnSpc>
            </a:pPr>
            <a:r>
              <a:rPr sz="1500" b="0" i="0" u="none" dirty="0">
                <a:solidFill>
                  <a:srgbClr val="002B49"/>
                </a:solidFill>
                <a:latin typeface="Merriweather" panose="00000500000000000000" pitchFamily="2" charset="0"/>
              </a:rPr>
              <a:t>El </a:t>
            </a:r>
            <a:r>
              <a:rPr sz="1500" b="0" i="0" u="none" dirty="0" err="1">
                <a:solidFill>
                  <a:srgbClr val="002B49"/>
                </a:solidFill>
                <a:latin typeface="Merriweather" panose="00000500000000000000" pitchFamily="2" charset="0"/>
              </a:rPr>
              <a:t>operador</a:t>
            </a:r>
            <a:r>
              <a:rPr sz="1500" b="0" i="0" u="none" dirty="0">
                <a:solidFill>
                  <a:srgbClr val="002B49"/>
                </a:solidFill>
                <a:latin typeface="Merriweather" panose="00000500000000000000" pitchFamily="2" charset="0"/>
              </a:rPr>
              <a:t> elemental de la </a:t>
            </a:r>
            <a:r>
              <a:rPr sz="1500" b="0" i="0" u="none" dirty="0" err="1">
                <a:solidFill>
                  <a:srgbClr val="002B49"/>
                </a:solidFill>
                <a:latin typeface="Merriweather" panose="00000500000000000000" pitchFamily="2" charset="0"/>
              </a:rPr>
              <a:t>cascada</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combina</a:t>
            </a:r>
            <a:r>
              <a:rPr sz="1500" b="0" i="0" u="none" dirty="0">
                <a:solidFill>
                  <a:srgbClr val="002B49"/>
                </a:solidFill>
                <a:latin typeface="Merriweather" panose="00000500000000000000" pitchFamily="2" charset="0"/>
              </a:rPr>
              <a:t> la wavelet </a:t>
            </a:r>
            <a:r>
              <a:rPr sz="1500" b="0" i="1" u="none" dirty="0" err="1">
                <a:solidFill>
                  <a:srgbClr val="002B49"/>
                </a:solidFill>
                <a:latin typeface="Merriweather" panose="00000500000000000000" pitchFamily="2" charset="0"/>
              </a:rPr>
              <a:t>ψλ</a:t>
            </a:r>
            <a:endParaRPr sz="1500" b="0" i="0" u="none" dirty="0">
              <a:solidFill>
                <a:srgbClr val="002B49"/>
              </a:solidFill>
              <a:latin typeface="Merriweather" panose="00000500000000000000" pitchFamily="2" charset="0"/>
            </a:endParaRPr>
          </a:p>
        </p:txBody>
      </p:sp>
      <p:pic>
        <p:nvPicPr>
          <p:cNvPr id="8" name="Imagen 7">
            <a:extLst>
              <a:ext uri="{FF2B5EF4-FFF2-40B4-BE49-F238E27FC236}">
                <a16:creationId xmlns:a16="http://schemas.microsoft.com/office/drawing/2014/main" id="{A1487C20-0010-3EBF-175D-651EBE0459A6}"/>
              </a:ext>
            </a:extLst>
          </p:cNvPr>
          <p:cNvPicPr>
            <a:picLocks noChangeAspect="1"/>
          </p:cNvPicPr>
          <p:nvPr/>
        </p:nvPicPr>
        <p:blipFill>
          <a:blip r:embed="rId4"/>
          <a:stretch>
            <a:fillRect/>
          </a:stretch>
        </p:blipFill>
        <p:spPr>
          <a:xfrm>
            <a:off x="4292458" y="1755035"/>
            <a:ext cx="3255739" cy="475527"/>
          </a:xfrm>
          <a:prstGeom prst="rect">
            <a:avLst/>
          </a:prstGeom>
        </p:spPr>
      </p:pic>
      <p:sp>
        <p:nvSpPr>
          <p:cNvPr id="11" name="CuadroTexto 10">
            <a:extLst>
              <a:ext uri="{FF2B5EF4-FFF2-40B4-BE49-F238E27FC236}">
                <a16:creationId xmlns:a16="http://schemas.microsoft.com/office/drawing/2014/main" id="{52D2635F-B55E-70A2-634C-7AF920FE050F}"/>
              </a:ext>
            </a:extLst>
          </p:cNvPr>
          <p:cNvSpPr txBox="1"/>
          <p:nvPr/>
        </p:nvSpPr>
        <p:spPr>
          <a:xfrm>
            <a:off x="563880" y="3320426"/>
            <a:ext cx="9002814" cy="553998"/>
          </a:xfrm>
          <a:prstGeom prst="rect">
            <a:avLst/>
          </a:prstGeom>
          <a:noFill/>
        </p:spPr>
        <p:txBody>
          <a:bodyPr wrap="square">
            <a:spAutoFit/>
          </a:bodyPr>
          <a:lstStyle/>
          <a:p>
            <a:r>
              <a:rPr lang="es-ES" sz="1500" b="0" i="0" u="none" dirty="0">
                <a:solidFill>
                  <a:srgbClr val="002B49"/>
                </a:solidFill>
                <a:latin typeface="Merriweather" panose="00000500000000000000" pitchFamily="2" charset="0"/>
              </a:rPr>
              <a:t>Al iterar sobre un camino de wavelets </a:t>
            </a:r>
            <a:r>
              <a:rPr lang="es-ES" sz="1500" b="0" i="1" u="none" dirty="0">
                <a:solidFill>
                  <a:srgbClr val="002B49"/>
                </a:solidFill>
                <a:latin typeface="Merriweather" panose="00000500000000000000" pitchFamily="2" charset="0"/>
              </a:rPr>
              <a:t>p = (λ1,...,</a:t>
            </a:r>
            <a:r>
              <a:rPr lang="es-ES" sz="1500" b="0" i="1" u="none" dirty="0" err="1">
                <a:solidFill>
                  <a:srgbClr val="002B49"/>
                </a:solidFill>
                <a:latin typeface="Merriweather" panose="00000500000000000000" pitchFamily="2" charset="0"/>
              </a:rPr>
              <a:t>λm</a:t>
            </a:r>
            <a:r>
              <a:rPr lang="es-ES" sz="1500" b="0" i="1" u="none" dirty="0">
                <a:solidFill>
                  <a:srgbClr val="002B49"/>
                </a:solidFill>
                <a:latin typeface="Merriweather" panose="00000500000000000000" pitchFamily="2" charset="0"/>
              </a:rPr>
              <a:t>)</a:t>
            </a:r>
            <a:r>
              <a:rPr lang="es-ES" sz="1500" b="0" i="0" u="none" dirty="0">
                <a:solidFill>
                  <a:srgbClr val="002B49"/>
                </a:solidFill>
                <a:latin typeface="Merriweather" panose="00000500000000000000" pitchFamily="2" charset="0"/>
              </a:rPr>
              <a:t> y aplicar un promediado final, obtenemos los coeficientes:</a:t>
            </a:r>
            <a:endParaRPr lang="es-ES" dirty="0">
              <a:latin typeface="Merriweather" panose="00000500000000000000" pitchFamily="2" charset="0"/>
            </a:endParaRPr>
          </a:p>
        </p:txBody>
      </p:sp>
      <p:pic>
        <p:nvPicPr>
          <p:cNvPr id="15" name="Imagen 14">
            <a:extLst>
              <a:ext uri="{FF2B5EF4-FFF2-40B4-BE49-F238E27FC236}">
                <a16:creationId xmlns:a16="http://schemas.microsoft.com/office/drawing/2014/main" id="{E74566FE-A3FB-1099-9522-D2A9CFDA38F4}"/>
              </a:ext>
            </a:extLst>
          </p:cNvPr>
          <p:cNvPicPr>
            <a:picLocks noChangeAspect="1"/>
          </p:cNvPicPr>
          <p:nvPr/>
        </p:nvPicPr>
        <p:blipFill>
          <a:blip r:embed="rId5"/>
          <a:stretch>
            <a:fillRect/>
          </a:stretch>
        </p:blipFill>
        <p:spPr>
          <a:xfrm>
            <a:off x="5040728" y="2652346"/>
            <a:ext cx="2110541" cy="478533"/>
          </a:xfrm>
          <a:prstGeom prst="rect">
            <a:avLst/>
          </a:prstGeom>
        </p:spPr>
      </p:pic>
      <p:sp>
        <p:nvSpPr>
          <p:cNvPr id="17" name="CuadroTexto 16">
            <a:extLst>
              <a:ext uri="{FF2B5EF4-FFF2-40B4-BE49-F238E27FC236}">
                <a16:creationId xmlns:a16="http://schemas.microsoft.com/office/drawing/2014/main" id="{2354950D-D375-DA0D-5307-86869C2B532B}"/>
              </a:ext>
            </a:extLst>
          </p:cNvPr>
          <p:cNvSpPr txBox="1"/>
          <p:nvPr/>
        </p:nvSpPr>
        <p:spPr>
          <a:xfrm>
            <a:off x="563880" y="2326838"/>
            <a:ext cx="6094562" cy="323165"/>
          </a:xfrm>
          <a:prstGeom prst="rect">
            <a:avLst/>
          </a:prstGeom>
          <a:noFill/>
        </p:spPr>
        <p:txBody>
          <a:bodyPr wrap="square">
            <a:spAutoFit/>
          </a:bodyPr>
          <a:lstStyle/>
          <a:p>
            <a:r>
              <a:rPr lang="es-ES" sz="1500" b="0" i="0" u="none" dirty="0">
                <a:solidFill>
                  <a:srgbClr val="002B49"/>
                </a:solidFill>
                <a:latin typeface="Merriweather" panose="00000500000000000000" pitchFamily="2" charset="0"/>
              </a:rPr>
              <a:t>y el módulo</a:t>
            </a:r>
            <a:endParaRPr lang="es-ES" dirty="0">
              <a:latin typeface="Merriweather" panose="00000500000000000000" pitchFamily="2" charset="0"/>
            </a:endParaRPr>
          </a:p>
        </p:txBody>
      </p:sp>
      <p:sp>
        <p:nvSpPr>
          <p:cNvPr id="19" name="TextBox 4">
            <a:extLst>
              <a:ext uri="{FF2B5EF4-FFF2-40B4-BE49-F238E27FC236}">
                <a16:creationId xmlns:a16="http://schemas.microsoft.com/office/drawing/2014/main" id="{5E3E3C3A-EA01-0DAB-9A56-4D4C61A69960}"/>
              </a:ext>
            </a:extLst>
          </p:cNvPr>
          <p:cNvSpPr txBox="1"/>
          <p:nvPr/>
        </p:nvSpPr>
        <p:spPr>
          <a:xfrm>
            <a:off x="654817" y="4794349"/>
            <a:ext cx="9852157" cy="271356"/>
          </a:xfrm>
          <a:prstGeom prst="rect">
            <a:avLst/>
          </a:prstGeom>
          <a:noFill/>
        </p:spPr>
        <p:txBody>
          <a:bodyPr wrap="square" lIns="0" tIns="0" rIns="0" bIns="0" anchor="t">
            <a:spAutoFit/>
          </a:bodyPr>
          <a:lstStyle/>
          <a:p>
            <a:pPr algn="l">
              <a:lnSpc>
                <a:spcPts val="2250"/>
              </a:lnSpc>
            </a:pPr>
            <a:r>
              <a:rPr sz="1500" b="1" i="0" u="none" dirty="0">
                <a:solidFill>
                  <a:srgbClr val="002B49"/>
                </a:solidFill>
                <a:latin typeface="Merriweather" panose="00000500000000000000" pitchFamily="2" charset="0"/>
              </a:rPr>
              <a:t>Orden 0:</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Promedio</a:t>
            </a:r>
            <a:r>
              <a:rPr sz="1500" b="0" i="0" u="none" dirty="0">
                <a:solidFill>
                  <a:srgbClr val="002B49"/>
                </a:solidFill>
                <a:latin typeface="Merriweather" panose="00000500000000000000" pitchFamily="2" charset="0"/>
              </a:rPr>
              <a:t> simple (imagen </a:t>
            </a:r>
            <a:r>
              <a:rPr sz="1500" b="0" i="0" u="none" dirty="0" err="1">
                <a:solidFill>
                  <a:srgbClr val="002B49"/>
                </a:solidFill>
                <a:latin typeface="Merriweather" panose="00000500000000000000" pitchFamily="2" charset="0"/>
              </a:rPr>
              <a:t>difuminada</a:t>
            </a:r>
            <a:r>
              <a:rPr sz="1500" b="0" i="0" u="none" dirty="0">
                <a:solidFill>
                  <a:srgbClr val="002B49"/>
                </a:solidFill>
                <a:latin typeface="Merriweather" panose="00000500000000000000" pitchFamily="2" charset="0"/>
              </a:rPr>
              <a:t>).</a:t>
            </a:r>
          </a:p>
        </p:txBody>
      </p:sp>
      <p:sp>
        <p:nvSpPr>
          <p:cNvPr id="22" name="TextBox 5">
            <a:extLst>
              <a:ext uri="{FF2B5EF4-FFF2-40B4-BE49-F238E27FC236}">
                <a16:creationId xmlns:a16="http://schemas.microsoft.com/office/drawing/2014/main" id="{D5A2A5CB-6C65-EAF6-FF5A-D3C90794DBD4}"/>
              </a:ext>
            </a:extLst>
          </p:cNvPr>
          <p:cNvSpPr txBox="1"/>
          <p:nvPr/>
        </p:nvSpPr>
        <p:spPr>
          <a:xfrm>
            <a:off x="654817" y="5222974"/>
            <a:ext cx="9852157" cy="271356"/>
          </a:xfrm>
          <a:prstGeom prst="rect">
            <a:avLst/>
          </a:prstGeom>
          <a:noFill/>
        </p:spPr>
        <p:txBody>
          <a:bodyPr wrap="square" lIns="0" tIns="0" rIns="0" bIns="0" anchor="t">
            <a:spAutoFit/>
          </a:bodyPr>
          <a:lstStyle/>
          <a:p>
            <a:pPr algn="l">
              <a:lnSpc>
                <a:spcPts val="2250"/>
              </a:lnSpc>
            </a:pPr>
            <a:r>
              <a:rPr sz="1500" b="1" i="0" u="none">
                <a:solidFill>
                  <a:srgbClr val="002B49"/>
                </a:solidFill>
                <a:latin typeface="Merriweather" panose="00000500000000000000" pitchFamily="2" charset="0"/>
              </a:rPr>
              <a:t>Orden 1:</a:t>
            </a:r>
            <a:r>
              <a:rPr sz="1500" b="0" i="0" u="none">
                <a:solidFill>
                  <a:srgbClr val="002B49"/>
                </a:solidFill>
                <a:latin typeface="Merriweather" panose="00000500000000000000" pitchFamily="2" charset="0"/>
              </a:rPr>
              <a:t> Energía local por escala y orientación (equivalente a los primeros filtros de una CNN).</a:t>
            </a:r>
          </a:p>
        </p:txBody>
      </p:sp>
      <p:sp>
        <p:nvSpPr>
          <p:cNvPr id="25" name="TextBox 6">
            <a:extLst>
              <a:ext uri="{FF2B5EF4-FFF2-40B4-BE49-F238E27FC236}">
                <a16:creationId xmlns:a16="http://schemas.microsoft.com/office/drawing/2014/main" id="{4F729A20-F146-FBD9-B48C-2A7FDA9CF91F}"/>
              </a:ext>
            </a:extLst>
          </p:cNvPr>
          <p:cNvSpPr txBox="1"/>
          <p:nvPr/>
        </p:nvSpPr>
        <p:spPr>
          <a:xfrm>
            <a:off x="654817" y="5651599"/>
            <a:ext cx="9852157" cy="271356"/>
          </a:xfrm>
          <a:prstGeom prst="rect">
            <a:avLst/>
          </a:prstGeom>
          <a:noFill/>
        </p:spPr>
        <p:txBody>
          <a:bodyPr wrap="square" lIns="0" tIns="0" rIns="0" bIns="0" anchor="t">
            <a:spAutoFit/>
          </a:bodyPr>
          <a:lstStyle/>
          <a:p>
            <a:pPr algn="l">
              <a:lnSpc>
                <a:spcPts val="2250"/>
              </a:lnSpc>
            </a:pPr>
            <a:r>
              <a:rPr sz="1500" b="1" i="0" u="none" dirty="0">
                <a:solidFill>
                  <a:srgbClr val="002B49"/>
                </a:solidFill>
                <a:latin typeface="Merriweather" panose="00000500000000000000" pitchFamily="2" charset="0"/>
              </a:rPr>
              <a:t>Orden 2:</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Interacción</a:t>
            </a:r>
            <a:r>
              <a:rPr sz="1500" b="0" i="0" u="none" dirty="0">
                <a:solidFill>
                  <a:srgbClr val="002B49"/>
                </a:solidFill>
                <a:latin typeface="Merriweather" panose="00000500000000000000" pitchFamily="2" charset="0"/>
              </a:rPr>
              <a:t> entre </a:t>
            </a:r>
            <a:r>
              <a:rPr sz="1500" b="0" i="0" u="none" dirty="0" err="1">
                <a:solidFill>
                  <a:srgbClr val="002B49"/>
                </a:solidFill>
                <a:latin typeface="Merriweather" panose="00000500000000000000" pitchFamily="2" charset="0"/>
              </a:rPr>
              <a:t>escalas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distintas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ej</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cómo</a:t>
            </a:r>
            <a:r>
              <a:rPr sz="1500" b="0" i="0" u="none" dirty="0">
                <a:solidFill>
                  <a:srgbClr val="002B49"/>
                </a:solidFill>
                <a:latin typeface="Merriweather" panose="00000500000000000000" pitchFamily="2" charset="0"/>
              </a:rPr>
              <a:t> se </a:t>
            </a:r>
            <a:r>
              <a:rPr sz="1500" b="0" i="0" u="none" dirty="0" err="1">
                <a:solidFill>
                  <a:srgbClr val="002B49"/>
                </a:solidFill>
                <a:latin typeface="Merriweather" panose="00000500000000000000" pitchFamily="2" charset="0"/>
              </a:rPr>
              <a:t>organizan</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los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bordes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finos</a:t>
            </a:r>
            <a:r>
              <a:rPr sz="1500" b="0" i="0" u="none" dirty="0">
                <a:solidFill>
                  <a:srgbClr val="002B49"/>
                </a:solidFill>
                <a:latin typeface="Merriweather" panose="00000500000000000000" pitchFamily="2" charset="0"/>
              </a:rPr>
              <a:t> a </a:t>
            </a:r>
            <a:r>
              <a:rPr sz="1500" b="0" i="0" u="none" dirty="0" err="1">
                <a:solidFill>
                  <a:srgbClr val="002B49"/>
                </a:solidFill>
                <a:latin typeface="Merriweather" panose="00000500000000000000" pitchFamily="2" charset="0"/>
              </a:rPr>
              <a:t>una</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escala</a:t>
            </a:r>
            <a:r>
              <a:rPr sz="1500" b="0" i="0" u="none" dirty="0">
                <a:solidFill>
                  <a:srgbClr val="002B49"/>
                </a:solidFill>
                <a:latin typeface="Merriweather" panose="00000500000000000000" pitchFamily="2" charset="0"/>
              </a:rPr>
              <a:t> mayor).</a:t>
            </a:r>
          </a:p>
        </p:txBody>
      </p:sp>
    </p:spTree>
    <p:extLst>
      <p:ext uri="{BB962C8B-B14F-4D97-AF65-F5344CB8AC3E}">
        <p14:creationId xmlns:p14="http://schemas.microsoft.com/office/powerpoint/2010/main" val="991373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2B29047-BB0E-2DD3-60F4-E93E8CB6F140}"/>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D9B1807C-C8B0-C42E-69AB-B5D6F5A2119D}"/>
              </a:ext>
            </a:extLst>
          </p:cNvPr>
          <p:cNvSpPr txBox="1"/>
          <p:nvPr/>
        </p:nvSpPr>
        <p:spPr>
          <a:xfrm>
            <a:off x="395287" y="476250"/>
            <a:ext cx="11401425" cy="553998"/>
          </a:xfrm>
          <a:prstGeom prst="rect">
            <a:avLst/>
          </a:prstGeom>
          <a:noFill/>
        </p:spPr>
        <p:txBody>
          <a:bodyPr wrap="square" lIns="0" tIns="0" rIns="0" bIns="0" anchor="t">
            <a:spAutoFit/>
          </a:bodyPr>
          <a:lstStyle/>
          <a:p>
            <a:pPr algn="ctr"/>
            <a:r>
              <a:rPr sz="3450" b="1" i="0" u="none" dirty="0">
                <a:solidFill>
                  <a:srgbClr val="002B49"/>
                </a:solidFill>
                <a:latin typeface="Merriweather" panose="00000500000000000000" pitchFamily="2" charset="0"/>
              </a:rPr>
              <a:t>El </a:t>
            </a:r>
            <a:r>
              <a:rPr lang="es-ES" sz="3450" b="1" i="0" u="none" dirty="0">
                <a:solidFill>
                  <a:srgbClr val="002B49"/>
                </a:solidFill>
                <a:latin typeface="Merriweather" panose="00000500000000000000" pitchFamily="2" charset="0"/>
              </a:rPr>
              <a:t>b</a:t>
            </a:r>
            <a:r>
              <a:rPr sz="3600" b="1" i="0" u="none" dirty="0" err="1">
                <a:solidFill>
                  <a:srgbClr val="002B49"/>
                </a:solidFill>
                <a:latin typeface="Merriweather" panose="00000500000000000000" pitchFamily="2" charset="0"/>
              </a:rPr>
              <a:t>anco</a:t>
            </a:r>
            <a:r>
              <a:rPr sz="3450" b="1" i="0" u="none" dirty="0">
                <a:solidFill>
                  <a:srgbClr val="002B49"/>
                </a:solidFill>
                <a:latin typeface="Merriweather" panose="00000500000000000000" pitchFamily="2" charset="0"/>
              </a:rPr>
              <a:t> de </a:t>
            </a:r>
            <a:r>
              <a:rPr lang="es-ES" sz="3450" b="1" dirty="0">
                <a:solidFill>
                  <a:srgbClr val="002B49"/>
                </a:solidFill>
                <a:latin typeface="Merriweather" panose="00000500000000000000" pitchFamily="2" charset="0"/>
              </a:rPr>
              <a:t>f</a:t>
            </a:r>
            <a:r>
              <a:rPr sz="3450" b="1" i="0" u="none" dirty="0" err="1">
                <a:solidFill>
                  <a:srgbClr val="002B49"/>
                </a:solidFill>
                <a:latin typeface="Merriweather" panose="00000500000000000000" pitchFamily="2" charset="0"/>
              </a:rPr>
              <a:t>iltros</a:t>
            </a:r>
            <a:r>
              <a:rPr sz="3450" b="1" i="0" u="none" dirty="0">
                <a:solidFill>
                  <a:srgbClr val="002B49"/>
                </a:solidFill>
                <a:latin typeface="Merriweather" panose="00000500000000000000" pitchFamily="2" charset="0"/>
              </a:rPr>
              <a:t> sin </a:t>
            </a:r>
            <a:r>
              <a:rPr lang="es-ES" sz="3450" b="1" dirty="0">
                <a:solidFill>
                  <a:srgbClr val="002B49"/>
                </a:solidFill>
                <a:latin typeface="Merriweather" panose="00000500000000000000" pitchFamily="2" charset="0"/>
              </a:rPr>
              <a:t>a</a:t>
            </a:r>
            <a:r>
              <a:rPr sz="3450" b="1" i="0" u="none" dirty="0" err="1">
                <a:solidFill>
                  <a:srgbClr val="002B49"/>
                </a:solidFill>
                <a:latin typeface="Merriweather" panose="00000500000000000000" pitchFamily="2" charset="0"/>
              </a:rPr>
              <a:t>prendizaje</a:t>
            </a:r>
            <a:endParaRPr sz="3450" b="1" i="0" u="none" dirty="0">
              <a:solidFill>
                <a:srgbClr val="002B49"/>
              </a:solidFill>
              <a:latin typeface="Merriweather" panose="00000500000000000000" pitchFamily="2" charset="0"/>
            </a:endParaRPr>
          </a:p>
        </p:txBody>
      </p:sp>
      <p:pic>
        <p:nvPicPr>
          <p:cNvPr id="9" name="Image 0" descr="C:/Users/afbar/AppData/Local/Temp/claude/C--Users-afbar-Desktop-Proyecto-deep-learning/5da0d185-be79-45ff-b953-8700da5092ca/scratchpad/slides_img/filtros.png">
            <a:extLst>
              <a:ext uri="{FF2B5EF4-FFF2-40B4-BE49-F238E27FC236}">
                <a16:creationId xmlns:a16="http://schemas.microsoft.com/office/drawing/2014/main" id="{30729293-DAF5-1F7E-3ABE-983F3D47A547}"/>
              </a:ext>
            </a:extLst>
          </p:cNvPr>
          <p:cNvPicPr>
            <a:picLocks noChangeAspect="1"/>
          </p:cNvPicPr>
          <p:nvPr/>
        </p:nvPicPr>
        <p:blipFill>
          <a:blip r:embed="rId3"/>
          <a:stretch>
            <a:fillRect/>
          </a:stretch>
        </p:blipFill>
        <p:spPr>
          <a:xfrm>
            <a:off x="5970342" y="2088456"/>
            <a:ext cx="5486400" cy="2295144"/>
          </a:xfrm>
          <a:prstGeom prst="rect">
            <a:avLst/>
          </a:prstGeom>
        </p:spPr>
      </p:pic>
      <p:sp>
        <p:nvSpPr>
          <p:cNvPr id="12" name="Text 15">
            <a:extLst>
              <a:ext uri="{FF2B5EF4-FFF2-40B4-BE49-F238E27FC236}">
                <a16:creationId xmlns:a16="http://schemas.microsoft.com/office/drawing/2014/main" id="{DAA89FC9-74B0-8B22-E776-1DF0CF225601}"/>
              </a:ext>
            </a:extLst>
          </p:cNvPr>
          <p:cNvSpPr/>
          <p:nvPr/>
        </p:nvSpPr>
        <p:spPr>
          <a:xfrm>
            <a:off x="6095999" y="4343400"/>
            <a:ext cx="5486400" cy="365760"/>
          </a:xfrm>
          <a:prstGeom prst="rect">
            <a:avLst/>
          </a:prstGeom>
          <a:noFill/>
          <a:ln/>
        </p:spPr>
        <p:txBody>
          <a:bodyPr wrap="square" lIns="0" tIns="0" rIns="0" bIns="0" rtlCol="0" anchor="ctr"/>
          <a:lstStyle/>
          <a:p>
            <a:pPr marL="0" indent="0" algn="ctr">
              <a:buNone/>
            </a:pPr>
            <a:r>
              <a:rPr lang="en-US" sz="1200" i="1" dirty="0">
                <a:solidFill>
                  <a:srgbClr val="5B6675"/>
                </a:solidFill>
                <a:latin typeface="Calibri" pitchFamily="34" charset="0"/>
                <a:ea typeface="Calibri" pitchFamily="34" charset="-122"/>
                <a:cs typeface="Calibri" pitchFamily="34" charset="-120"/>
              </a:rPr>
              <a:t>Banco de wavelets: una sola forma, dilatada y rotada.</a:t>
            </a:r>
            <a:endParaRPr lang="en-US" sz="1200" dirty="0"/>
          </a:p>
        </p:txBody>
      </p:sp>
      <p:sp>
        <p:nvSpPr>
          <p:cNvPr id="14" name="TextBox 2">
            <a:extLst>
              <a:ext uri="{FF2B5EF4-FFF2-40B4-BE49-F238E27FC236}">
                <a16:creationId xmlns:a16="http://schemas.microsoft.com/office/drawing/2014/main" id="{E2704334-6591-7FE5-098E-024AA3FD98AA}"/>
              </a:ext>
            </a:extLst>
          </p:cNvPr>
          <p:cNvSpPr txBox="1"/>
          <p:nvPr/>
        </p:nvSpPr>
        <p:spPr>
          <a:xfrm>
            <a:off x="666750" y="1657825"/>
            <a:ext cx="5143500" cy="861261"/>
          </a:xfrm>
          <a:prstGeom prst="rect">
            <a:avLst/>
          </a:prstGeom>
          <a:noFill/>
        </p:spPr>
        <p:txBody>
          <a:bodyPr wrap="square" lIns="0" tIns="0" rIns="0" bIns="0" anchor="t">
            <a:spAutoFit/>
          </a:bodyPr>
          <a:lstStyle/>
          <a:p>
            <a:pPr algn="l">
              <a:lnSpc>
                <a:spcPts val="2250"/>
              </a:lnSpc>
            </a:pPr>
            <a:r>
              <a:rPr sz="1500" b="0" i="0" u="none" dirty="0">
                <a:solidFill>
                  <a:srgbClr val="002B49"/>
                </a:solidFill>
                <a:latin typeface="Merriweather" panose="00000500000000000000" pitchFamily="2" charset="0"/>
              </a:rPr>
              <a:t>En </a:t>
            </a:r>
            <a:r>
              <a:rPr sz="1500" b="0" i="0" u="none" dirty="0" err="1">
                <a:solidFill>
                  <a:srgbClr val="002B49"/>
                </a:solidFill>
                <a:latin typeface="Merriweather" panose="00000500000000000000" pitchFamily="2" charset="0"/>
              </a:rPr>
              <a:t>lugar</a:t>
            </a:r>
            <a:r>
              <a:rPr sz="1500" b="0" i="0" u="none" dirty="0">
                <a:solidFill>
                  <a:srgbClr val="002B49"/>
                </a:solidFill>
                <a:latin typeface="Merriweather" panose="00000500000000000000" pitchFamily="2" charset="0"/>
              </a:rPr>
              <a:t> de </a:t>
            </a:r>
            <a:r>
              <a:rPr sz="1500" b="0" i="0" u="none" dirty="0" err="1">
                <a:solidFill>
                  <a:srgbClr val="002B49"/>
                </a:solidFill>
                <a:latin typeface="Merriweather" panose="00000500000000000000" pitchFamily="2" charset="0"/>
              </a:rPr>
              <a:t>aprender</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los</a:t>
            </a:r>
            <a:r>
              <a:rPr sz="1500" b="0" i="0" u="none" dirty="0">
                <a:solidFill>
                  <a:srgbClr val="002B49"/>
                </a:solidFill>
                <a:latin typeface="Merriweather" panose="00000500000000000000" pitchFamily="2" charset="0"/>
              </a:rPr>
              <a:t> pesos </a:t>
            </a:r>
            <a:r>
              <a:rPr sz="1500" b="0" i="0" u="none" dirty="0" err="1">
                <a:solidFill>
                  <a:srgbClr val="002B49"/>
                </a:solidFill>
                <a:latin typeface="Merriweather" panose="00000500000000000000" pitchFamily="2" charset="0"/>
              </a:rPr>
              <a:t>por</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retropropagación</a:t>
            </a:r>
            <a:r>
              <a:rPr sz="1500" b="0" i="0" u="none" dirty="0">
                <a:solidFill>
                  <a:srgbClr val="002B49"/>
                </a:solidFill>
                <a:latin typeface="Merriweather" panose="00000500000000000000" pitchFamily="2" charset="0"/>
              </a:rPr>
              <a:t>, el scattering </a:t>
            </a:r>
            <a:r>
              <a:rPr sz="1500" b="0" i="0" u="none" dirty="0" err="1">
                <a:solidFill>
                  <a:srgbClr val="002B49"/>
                </a:solidFill>
                <a:latin typeface="Merriweather" panose="00000500000000000000" pitchFamily="2" charset="0"/>
              </a:rPr>
              <a:t>emplea</a:t>
            </a:r>
            <a:r>
              <a:rPr sz="1500" b="0" i="0" u="none" dirty="0">
                <a:solidFill>
                  <a:srgbClr val="002B49"/>
                </a:solidFill>
                <a:latin typeface="Merriweather" panose="00000500000000000000" pitchFamily="2" charset="0"/>
              </a:rPr>
              <a:t> un </a:t>
            </a:r>
            <a:r>
              <a:rPr lang="en-US" sz="1500" b="0" dirty="0">
                <a:solidFill>
                  <a:srgbClr val="002B49"/>
                </a:solidFill>
                <a:latin typeface="Merriweather" panose="00000500000000000000" pitchFamily="2" charset="0"/>
              </a:rPr>
              <a:t>b</a:t>
            </a:r>
            <a:r>
              <a:rPr sz="1500" i="0" u="none" dirty="0">
                <a:solidFill>
                  <a:srgbClr val="002B49"/>
                </a:solidFill>
                <a:latin typeface="Merriweather" panose="00000500000000000000" pitchFamily="2" charset="0"/>
              </a:rPr>
              <a:t>anco de </a:t>
            </a:r>
            <a:r>
              <a:rPr lang="en-US" sz="1500" i="0" u="none" dirty="0">
                <a:solidFill>
                  <a:srgbClr val="002B49"/>
                </a:solidFill>
                <a:latin typeface="Merriweather" panose="00000500000000000000" pitchFamily="2" charset="0"/>
              </a:rPr>
              <a:t>w</a:t>
            </a:r>
            <a:r>
              <a:rPr sz="1500" i="0" u="none" dirty="0">
                <a:solidFill>
                  <a:srgbClr val="002B49"/>
                </a:solidFill>
                <a:latin typeface="Merriweather" panose="00000500000000000000" pitchFamily="2" charset="0"/>
              </a:rPr>
              <a:t>avelets de Morlet </a:t>
            </a:r>
            <a:r>
              <a:rPr sz="1500" b="0" i="0" u="none" dirty="0" err="1">
                <a:solidFill>
                  <a:srgbClr val="002B49"/>
                </a:solidFill>
                <a:latin typeface="Merriweather" panose="00000500000000000000" pitchFamily="2" charset="0"/>
              </a:rPr>
              <a:t>fijo</a:t>
            </a:r>
            <a:r>
              <a:rPr sz="1500" b="0" i="0" u="none" dirty="0">
                <a:solidFill>
                  <a:srgbClr val="002B49"/>
                </a:solidFill>
                <a:latin typeface="Merriweather" panose="00000500000000000000" pitchFamily="2" charset="0"/>
              </a:rPr>
              <a:t>.</a:t>
            </a:r>
          </a:p>
        </p:txBody>
      </p:sp>
      <p:sp>
        <p:nvSpPr>
          <p:cNvPr id="18" name="TextBox 3">
            <a:extLst>
              <a:ext uri="{FF2B5EF4-FFF2-40B4-BE49-F238E27FC236}">
                <a16:creationId xmlns:a16="http://schemas.microsoft.com/office/drawing/2014/main" id="{383D0F74-7313-58D7-ABB5-4F78356655A0}"/>
              </a:ext>
            </a:extLst>
          </p:cNvPr>
          <p:cNvSpPr txBox="1"/>
          <p:nvPr/>
        </p:nvSpPr>
        <p:spPr>
          <a:xfrm>
            <a:off x="666750" y="2619375"/>
            <a:ext cx="4810125" cy="571500"/>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1" i="0" u="none" dirty="0">
                <a:solidFill>
                  <a:srgbClr val="002B49"/>
                </a:solidFill>
                <a:latin typeface="Merriweather" panose="00000500000000000000" pitchFamily="2" charset="0"/>
              </a:rPr>
              <a:t>Escala (</a:t>
            </a:r>
            <a:r>
              <a:rPr sz="1500" b="1" i="1" u="none" dirty="0">
                <a:solidFill>
                  <a:srgbClr val="002B49"/>
                </a:solidFill>
                <a:latin typeface="Merriweather" panose="00000500000000000000" pitchFamily="2" charset="0"/>
              </a:rPr>
              <a:t>j</a:t>
            </a:r>
            <a:r>
              <a:rPr sz="1500" b="1" i="0" u="none" dirty="0">
                <a:solidFill>
                  <a:srgbClr val="002B49"/>
                </a:solidFill>
                <a:latin typeface="Merriweather" panose="00000500000000000000" pitchFamily="2" charset="0"/>
              </a:rPr>
              <a:t>):</a:t>
            </a:r>
            <a:r>
              <a:rPr sz="1500" b="0" i="0" u="none" dirty="0">
                <a:solidFill>
                  <a:srgbClr val="002B49"/>
                </a:solidFill>
                <a:latin typeface="Merriweather" panose="00000500000000000000" pitchFamily="2" charset="0"/>
              </a:rPr>
              <a:t> Define el </a:t>
            </a:r>
            <a:r>
              <a:rPr sz="1500" b="0" i="0" u="none" dirty="0" err="1">
                <a:solidFill>
                  <a:srgbClr val="002B49"/>
                </a:solidFill>
                <a:latin typeface="Merriweather" panose="00000500000000000000" pitchFamily="2" charset="0"/>
              </a:rPr>
              <a:t>tamaño</a:t>
            </a:r>
            <a:r>
              <a:rPr sz="1500" b="0" i="0" u="none" dirty="0">
                <a:solidFill>
                  <a:srgbClr val="002B49"/>
                </a:solidFill>
                <a:latin typeface="Merriweather" panose="00000500000000000000" pitchFamily="2" charset="0"/>
              </a:rPr>
              <a:t> de las </a:t>
            </a:r>
            <a:r>
              <a:rPr sz="1500" b="0" i="0" u="none" dirty="0" err="1">
                <a:solidFill>
                  <a:srgbClr val="002B49"/>
                </a:solidFill>
                <a:latin typeface="Merriweather" panose="00000500000000000000" pitchFamily="2" charset="0"/>
              </a:rPr>
              <a:t>estructuras</a:t>
            </a:r>
            <a:r>
              <a:rPr sz="1500" b="0" i="0" u="none" dirty="0">
                <a:solidFill>
                  <a:srgbClr val="002B49"/>
                </a:solidFill>
                <a:latin typeface="Merriweather" panose="00000500000000000000" pitchFamily="2" charset="0"/>
              </a:rPr>
              <a:t> a las </a:t>
            </a:r>
            <a:r>
              <a:rPr sz="1500" b="0" i="0" u="none" dirty="0" err="1">
                <a:solidFill>
                  <a:srgbClr val="002B49"/>
                </a:solidFill>
                <a:latin typeface="Merriweather" panose="00000500000000000000" pitchFamily="2" charset="0"/>
              </a:rPr>
              <a:t>que</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responde</a:t>
            </a:r>
            <a:r>
              <a:rPr sz="1500" b="0" i="0" u="none" dirty="0">
                <a:solidFill>
                  <a:srgbClr val="002B49"/>
                </a:solidFill>
                <a:latin typeface="Merriweather" panose="00000500000000000000" pitchFamily="2" charset="0"/>
              </a:rPr>
              <a:t> el </a:t>
            </a:r>
            <a:r>
              <a:rPr sz="1500" b="0" i="0" u="none" dirty="0" err="1">
                <a:solidFill>
                  <a:srgbClr val="002B49"/>
                </a:solidFill>
                <a:latin typeface="Merriweather" panose="00000500000000000000" pitchFamily="2" charset="0"/>
              </a:rPr>
              <a:t>filtro</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filas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en</a:t>
            </a:r>
            <a:r>
              <a:rPr sz="1500" b="0" i="0" u="none" dirty="0">
                <a:solidFill>
                  <a:srgbClr val="002B49"/>
                </a:solidFill>
                <a:latin typeface="Merriweather" panose="00000500000000000000" pitchFamily="2" charset="0"/>
              </a:rPr>
              <a:t> la imagen).</a:t>
            </a:r>
          </a:p>
        </p:txBody>
      </p:sp>
      <p:sp>
        <p:nvSpPr>
          <p:cNvPr id="20" name="TextBox 4">
            <a:extLst>
              <a:ext uri="{FF2B5EF4-FFF2-40B4-BE49-F238E27FC236}">
                <a16:creationId xmlns:a16="http://schemas.microsoft.com/office/drawing/2014/main" id="{CC2996A0-AC6D-421A-9184-5D6190F170E7}"/>
              </a:ext>
            </a:extLst>
          </p:cNvPr>
          <p:cNvSpPr txBox="1"/>
          <p:nvPr/>
        </p:nvSpPr>
        <p:spPr>
          <a:xfrm>
            <a:off x="666750" y="3429000"/>
            <a:ext cx="4810125" cy="571500"/>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1" i="0" u="none" dirty="0" err="1">
                <a:solidFill>
                  <a:srgbClr val="002B49"/>
                </a:solidFill>
                <a:latin typeface="Merriweather" panose="00000500000000000000" pitchFamily="2" charset="0"/>
              </a:rPr>
              <a:t>Orientación</a:t>
            </a:r>
            <a:r>
              <a:rPr sz="1500" b="1" i="0" u="none" dirty="0">
                <a:solidFill>
                  <a:srgbClr val="002B49"/>
                </a:solidFill>
                <a:latin typeface="Merriweather" panose="00000500000000000000" pitchFamily="2" charset="0"/>
              </a:rPr>
              <a:t> (</a:t>
            </a:r>
            <a:r>
              <a:rPr sz="1500" b="1" i="1" u="none" dirty="0">
                <a:solidFill>
                  <a:srgbClr val="002B49"/>
                </a:solidFill>
                <a:latin typeface="Merriweather" panose="00000500000000000000" pitchFamily="2" charset="0"/>
              </a:rPr>
              <a:t>θ</a:t>
            </a:r>
            <a:r>
              <a:rPr sz="1500" b="1" i="0" u="none" dirty="0">
                <a:solidFill>
                  <a:srgbClr val="002B49"/>
                </a:solidFill>
                <a:latin typeface="Merriweather" panose="00000500000000000000" pitchFamily="2" charset="0"/>
              </a:rPr>
              <a:t>):</a:t>
            </a:r>
            <a:r>
              <a:rPr sz="1500" b="0" i="0" u="none" dirty="0">
                <a:solidFill>
                  <a:srgbClr val="002B49"/>
                </a:solidFill>
                <a:latin typeface="Merriweather" panose="00000500000000000000" pitchFamily="2" charset="0"/>
              </a:rPr>
              <a:t> Define el </a:t>
            </a:r>
            <a:r>
              <a:rPr sz="1500" b="0" i="0" u="none" dirty="0" err="1">
                <a:solidFill>
                  <a:srgbClr val="002B49"/>
                </a:solidFill>
                <a:latin typeface="Merriweather" panose="00000500000000000000" pitchFamily="2" charset="0"/>
              </a:rPr>
              <a:t>eje</a:t>
            </a:r>
            <a:r>
              <a:rPr sz="1500" b="0" i="0" u="none" dirty="0">
                <a:solidFill>
                  <a:srgbClr val="002B49"/>
                </a:solidFill>
                <a:latin typeface="Merriweather" panose="00000500000000000000" pitchFamily="2" charset="0"/>
              </a:rPr>
              <a:t> a lo largo del </a:t>
            </a:r>
            <a:r>
              <a:rPr sz="1500" b="0" i="0" u="none" dirty="0" err="1">
                <a:solidFill>
                  <a:srgbClr val="002B49"/>
                </a:solidFill>
                <a:latin typeface="Merriweather" panose="00000500000000000000" pitchFamily="2" charset="0"/>
              </a:rPr>
              <a:t>cual</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oscila</a:t>
            </a:r>
            <a:r>
              <a:rPr sz="1500" b="0" i="0" u="none" dirty="0">
                <a:solidFill>
                  <a:srgbClr val="002B49"/>
                </a:solidFill>
                <a:latin typeface="Merriweather" panose="00000500000000000000" pitchFamily="2" charset="0"/>
              </a:rPr>
              <a:t> el detector (columnas </a:t>
            </a:r>
            <a:r>
              <a:rPr sz="1500" b="0" i="0" u="none" dirty="0" err="1">
                <a:solidFill>
                  <a:srgbClr val="002B49"/>
                </a:solidFill>
                <a:latin typeface="Merriweather" panose="00000500000000000000" pitchFamily="2" charset="0"/>
              </a:rPr>
              <a:t>en</a:t>
            </a:r>
            <a:r>
              <a:rPr sz="1500" b="0" i="0" u="none" dirty="0">
                <a:solidFill>
                  <a:srgbClr val="002B49"/>
                </a:solidFill>
                <a:latin typeface="Merriweather" panose="00000500000000000000" pitchFamily="2" charset="0"/>
              </a:rPr>
              <a:t> la imagen).</a:t>
            </a:r>
          </a:p>
        </p:txBody>
      </p:sp>
      <p:sp>
        <p:nvSpPr>
          <p:cNvPr id="22" name="TextBox 5">
            <a:extLst>
              <a:ext uri="{FF2B5EF4-FFF2-40B4-BE49-F238E27FC236}">
                <a16:creationId xmlns:a16="http://schemas.microsoft.com/office/drawing/2014/main" id="{FA72AB68-BF5D-0B0A-4C73-5B4877A2A62B}"/>
              </a:ext>
            </a:extLst>
          </p:cNvPr>
          <p:cNvSpPr txBox="1"/>
          <p:nvPr/>
        </p:nvSpPr>
        <p:spPr>
          <a:xfrm>
            <a:off x="666750" y="4238625"/>
            <a:ext cx="4810125" cy="571118"/>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lang="es-ES" sz="1500" b="1" i="0" u="none" dirty="0">
                <a:solidFill>
                  <a:srgbClr val="002B49"/>
                </a:solidFill>
                <a:latin typeface="Merriweather" panose="00000500000000000000" pitchFamily="2" charset="0"/>
              </a:rPr>
              <a:t>Invarianza:</a:t>
            </a:r>
            <a:r>
              <a:rPr lang="es-ES" sz="1500" b="0" i="0" u="none" dirty="0">
                <a:solidFill>
                  <a:srgbClr val="002B49"/>
                </a:solidFill>
                <a:latin typeface="Merriweather" panose="00000500000000000000" pitchFamily="2" charset="0"/>
              </a:rPr>
              <a:t> Muevo el dígito entero y el descriptor no cambia.</a:t>
            </a:r>
          </a:p>
        </p:txBody>
      </p:sp>
      <p:sp>
        <p:nvSpPr>
          <p:cNvPr id="24" name="TextBox 5">
            <a:extLst>
              <a:ext uri="{FF2B5EF4-FFF2-40B4-BE49-F238E27FC236}">
                <a16:creationId xmlns:a16="http://schemas.microsoft.com/office/drawing/2014/main" id="{E273619F-B904-2A2F-BBFA-53A6913129FF}"/>
              </a:ext>
            </a:extLst>
          </p:cNvPr>
          <p:cNvSpPr txBox="1"/>
          <p:nvPr/>
        </p:nvSpPr>
        <p:spPr>
          <a:xfrm>
            <a:off x="666750" y="5047868"/>
            <a:ext cx="4810125" cy="866071"/>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1" i="0" u="none" dirty="0" err="1">
                <a:solidFill>
                  <a:srgbClr val="002B49"/>
                </a:solidFill>
                <a:latin typeface="Merriweather" panose="00000500000000000000" pitchFamily="2" charset="0"/>
              </a:rPr>
              <a:t>Estabilidad</a:t>
            </a:r>
            <a:r>
              <a:rPr sz="1500" b="1" i="0" u="none" dirty="0">
                <a:solidFill>
                  <a:srgbClr val="002B49"/>
                </a:solidFill>
                <a:latin typeface="Merriweather" panose="00000500000000000000" pitchFamily="2" charset="0"/>
              </a:rPr>
              <a:t>:</a:t>
            </a:r>
            <a:r>
              <a:rPr sz="1500" b="0" i="0" u="none" dirty="0">
                <a:solidFill>
                  <a:srgbClr val="002B49"/>
                </a:solidFill>
                <a:latin typeface="Merriweather" panose="00000500000000000000" pitchFamily="2" charset="0"/>
              </a:rPr>
              <a:t> </a:t>
            </a:r>
            <a:r>
              <a:rPr lang="es-ES" sz="1500" b="0" i="0" u="none" dirty="0">
                <a:solidFill>
                  <a:srgbClr val="002B49"/>
                </a:solidFill>
                <a:latin typeface="Merriweather" panose="00000500000000000000" pitchFamily="2" charset="0"/>
              </a:rPr>
              <a:t>Deformo suave (un trazo que se curva) y el descriptor cambia poco </a:t>
            </a:r>
            <a:r>
              <a:rPr lang="en-US" sz="1500" b="0" i="0" u="none" dirty="0">
                <a:solidFill>
                  <a:srgbClr val="002B49"/>
                </a:solidFill>
                <a:latin typeface="Merriweather" panose="00000500000000000000" pitchFamily="2" charset="0"/>
              </a:rPr>
              <a:t>(cambia proporcionalmente)</a:t>
            </a:r>
            <a:r>
              <a:rPr lang="es-ES" sz="1500" b="0" i="0" u="none" dirty="0">
                <a:solidFill>
                  <a:srgbClr val="002B49"/>
                </a:solidFill>
                <a:latin typeface="Merriweather" panose="00000500000000000000" pitchFamily="2" charset="0"/>
              </a:rPr>
              <a:t>. </a:t>
            </a:r>
          </a:p>
        </p:txBody>
      </p:sp>
    </p:spTree>
    <p:extLst>
      <p:ext uri="{BB962C8B-B14F-4D97-AF65-F5344CB8AC3E}">
        <p14:creationId xmlns:p14="http://schemas.microsoft.com/office/powerpoint/2010/main" val="780243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37AD99-01B6-27B8-47F5-F0AC02D8AEFF}"/>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D46669FB-E222-5198-1D90-91AEBEFD5658}"/>
              </a:ext>
            </a:extLst>
          </p:cNvPr>
          <p:cNvSpPr txBox="1"/>
          <p:nvPr/>
        </p:nvSpPr>
        <p:spPr>
          <a:xfrm>
            <a:off x="395287" y="476250"/>
            <a:ext cx="11401425" cy="553998"/>
          </a:xfrm>
          <a:prstGeom prst="rect">
            <a:avLst/>
          </a:prstGeom>
          <a:noFill/>
        </p:spPr>
        <p:txBody>
          <a:bodyPr wrap="square" lIns="0" tIns="0" rIns="0" bIns="0" anchor="t">
            <a:spAutoFit/>
          </a:bodyPr>
          <a:lstStyle/>
          <a:p>
            <a:pPr algn="ctr"/>
            <a:r>
              <a:rPr lang="es-ES" sz="3600" b="1" i="0" u="none" dirty="0">
                <a:solidFill>
                  <a:srgbClr val="002B49"/>
                </a:solidFill>
                <a:latin typeface="Merriweather"/>
              </a:rPr>
              <a:t>Modelos a comparar</a:t>
            </a:r>
            <a:endParaRPr sz="3600" b="1" i="0" u="none" dirty="0">
              <a:solidFill>
                <a:srgbClr val="002B49"/>
              </a:solidFill>
              <a:latin typeface="Merriweather"/>
            </a:endParaRPr>
          </a:p>
        </p:txBody>
      </p:sp>
      <p:sp>
        <p:nvSpPr>
          <p:cNvPr id="11" name="TextBox 4">
            <a:extLst>
              <a:ext uri="{FF2B5EF4-FFF2-40B4-BE49-F238E27FC236}">
                <a16:creationId xmlns:a16="http://schemas.microsoft.com/office/drawing/2014/main" id="{20BB73DC-AA2D-92C5-C2E8-6179CD541DE3}"/>
              </a:ext>
            </a:extLst>
          </p:cNvPr>
          <p:cNvSpPr txBox="1"/>
          <p:nvPr/>
        </p:nvSpPr>
        <p:spPr>
          <a:xfrm>
            <a:off x="1249063" y="1852612"/>
            <a:ext cx="9693575" cy="616194"/>
          </a:xfrm>
          <a:prstGeom prst="rect">
            <a:avLst/>
          </a:prstGeom>
          <a:noFill/>
        </p:spPr>
        <p:txBody>
          <a:bodyPr wrap="square" lIns="0" tIns="0" rIns="0" bIns="0" anchor="t">
            <a:spAutoFit/>
          </a:bodyPr>
          <a:lstStyle/>
          <a:p>
            <a:pPr algn="ctr">
              <a:lnSpc>
                <a:spcPts val="2475"/>
              </a:lnSpc>
            </a:pPr>
            <a:r>
              <a:rPr sz="1650" b="0" i="0" u="none" dirty="0">
                <a:solidFill>
                  <a:schemeClr val="tx1">
                    <a:lumMod val="75000"/>
                    <a:lumOff val="25000"/>
                  </a:schemeClr>
                </a:solidFill>
                <a:latin typeface="Merriweather" panose="00000500000000000000" pitchFamily="2" charset="0"/>
              </a:rPr>
              <a:t>Para </a:t>
            </a:r>
            <a:r>
              <a:rPr sz="1650" b="0" i="0" u="none" dirty="0" err="1">
                <a:solidFill>
                  <a:schemeClr val="tx1">
                    <a:lumMod val="75000"/>
                    <a:lumOff val="25000"/>
                  </a:schemeClr>
                </a:solidFill>
                <a:latin typeface="Merriweather" panose="00000500000000000000" pitchFamily="2" charset="0"/>
              </a:rPr>
              <a:t>evaluar</a:t>
            </a:r>
            <a:r>
              <a:rPr sz="1650" b="0" i="0" u="none" dirty="0">
                <a:solidFill>
                  <a:schemeClr val="tx1">
                    <a:lumMod val="75000"/>
                    <a:lumOff val="25000"/>
                  </a:schemeClr>
                </a:solidFill>
                <a:latin typeface="Merriweather" panose="00000500000000000000" pitchFamily="2" charset="0"/>
              </a:rPr>
              <a:t> el </a:t>
            </a:r>
            <a:r>
              <a:rPr sz="1650" b="0" i="0" u="none" dirty="0" err="1">
                <a:solidFill>
                  <a:schemeClr val="tx1">
                    <a:lumMod val="75000"/>
                    <a:lumOff val="25000"/>
                  </a:schemeClr>
                </a:solidFill>
                <a:latin typeface="Merriweather" panose="00000500000000000000" pitchFamily="2" charset="0"/>
              </a:rPr>
              <a:t>impacto</a:t>
            </a:r>
            <a:r>
              <a:rPr sz="1650" b="0" i="0" u="none" dirty="0">
                <a:solidFill>
                  <a:schemeClr val="tx1">
                    <a:lumMod val="75000"/>
                    <a:lumOff val="25000"/>
                  </a:schemeClr>
                </a:solidFill>
                <a:latin typeface="Merriweather" panose="00000500000000000000" pitchFamily="2" charset="0"/>
              </a:rPr>
              <a:t> de la </a:t>
            </a:r>
            <a:r>
              <a:rPr sz="1650" b="0" i="0" u="none" dirty="0" err="1">
                <a:solidFill>
                  <a:schemeClr val="tx1">
                    <a:lumMod val="75000"/>
                    <a:lumOff val="25000"/>
                  </a:schemeClr>
                </a:solidFill>
                <a:latin typeface="Merriweather" panose="00000500000000000000" pitchFamily="2" charset="0"/>
              </a:rPr>
              <a:t>arquitectura</a:t>
            </a:r>
            <a:r>
              <a:rPr sz="1650" b="0" i="0" u="none" dirty="0">
                <a:solidFill>
                  <a:schemeClr val="tx1">
                    <a:lumMod val="75000"/>
                    <a:lumOff val="25000"/>
                  </a:schemeClr>
                </a:solidFill>
                <a:latin typeface="Merriweather" panose="00000500000000000000" pitchFamily="2" charset="0"/>
              </a:rPr>
              <a:t> </a:t>
            </a:r>
            <a:r>
              <a:rPr sz="1650" b="0" i="0" u="none" dirty="0" err="1">
                <a:solidFill>
                  <a:schemeClr val="tx1">
                    <a:lumMod val="75000"/>
                    <a:lumOff val="25000"/>
                  </a:schemeClr>
                </a:solidFill>
                <a:latin typeface="Merriweather" panose="00000500000000000000" pitchFamily="2" charset="0"/>
              </a:rPr>
              <a:t>frente</a:t>
            </a:r>
            <a:r>
              <a:rPr sz="1650" b="0" i="0" u="none" dirty="0">
                <a:solidFill>
                  <a:schemeClr val="tx1">
                    <a:lumMod val="75000"/>
                    <a:lumOff val="25000"/>
                  </a:schemeClr>
                </a:solidFill>
                <a:latin typeface="Merriweather" panose="00000500000000000000" pitchFamily="2" charset="0"/>
              </a:rPr>
              <a:t> al </a:t>
            </a:r>
            <a:r>
              <a:rPr sz="1650" b="0" i="0" u="none" dirty="0" err="1">
                <a:solidFill>
                  <a:schemeClr val="tx1">
                    <a:lumMod val="75000"/>
                    <a:lumOff val="25000"/>
                  </a:schemeClr>
                </a:solidFill>
                <a:latin typeface="Merriweather" panose="00000500000000000000" pitchFamily="2" charset="0"/>
              </a:rPr>
              <a:t>aprendizaje</a:t>
            </a:r>
            <a:r>
              <a:rPr sz="1650" b="0" i="0" u="none" dirty="0">
                <a:solidFill>
                  <a:schemeClr val="tx1">
                    <a:lumMod val="75000"/>
                    <a:lumOff val="25000"/>
                  </a:schemeClr>
                </a:solidFill>
                <a:latin typeface="Merriweather" panose="00000500000000000000" pitchFamily="2" charset="0"/>
              </a:rPr>
              <a:t>, </a:t>
            </a:r>
            <a:r>
              <a:rPr sz="1650" b="0" i="0" u="none" dirty="0" err="1">
                <a:solidFill>
                  <a:schemeClr val="tx1">
                    <a:lumMod val="75000"/>
                    <a:lumOff val="25000"/>
                  </a:schemeClr>
                </a:solidFill>
                <a:latin typeface="Merriweather" panose="00000500000000000000" pitchFamily="2" charset="0"/>
              </a:rPr>
              <a:t>comparamos</a:t>
            </a:r>
            <a:r>
              <a:rPr sz="1650" b="0" i="0" u="none" dirty="0">
                <a:solidFill>
                  <a:schemeClr val="tx1">
                    <a:lumMod val="75000"/>
                    <a:lumOff val="25000"/>
                  </a:schemeClr>
                </a:solidFill>
                <a:latin typeface="Merriweather" panose="00000500000000000000" pitchFamily="2" charset="0"/>
              </a:rPr>
              <a:t> cuatro </a:t>
            </a:r>
            <a:r>
              <a:rPr sz="1650" b="0" i="0" u="none" dirty="0" err="1">
                <a:solidFill>
                  <a:schemeClr val="tx1">
                    <a:lumMod val="75000"/>
                    <a:lumOff val="25000"/>
                  </a:schemeClr>
                </a:solidFill>
                <a:latin typeface="Merriweather" panose="00000500000000000000" pitchFamily="2" charset="0"/>
              </a:rPr>
              <a:t>enfoques</a:t>
            </a:r>
            <a:r>
              <a:rPr sz="1650" b="0" i="0" u="none" dirty="0">
                <a:solidFill>
                  <a:schemeClr val="tx1">
                    <a:lumMod val="75000"/>
                    <a:lumOff val="25000"/>
                  </a:schemeClr>
                </a:solidFill>
                <a:latin typeface="Merriweather" panose="00000500000000000000" pitchFamily="2" charset="0"/>
              </a:rPr>
              <a:t>:</a:t>
            </a:r>
          </a:p>
        </p:txBody>
      </p:sp>
      <p:sp>
        <p:nvSpPr>
          <p:cNvPr id="15" name="TextBox 5">
            <a:extLst>
              <a:ext uri="{FF2B5EF4-FFF2-40B4-BE49-F238E27FC236}">
                <a16:creationId xmlns:a16="http://schemas.microsoft.com/office/drawing/2014/main" id="{F57DD295-C39B-DE2F-2D12-163C66D79875}"/>
              </a:ext>
            </a:extLst>
          </p:cNvPr>
          <p:cNvSpPr txBox="1"/>
          <p:nvPr/>
        </p:nvSpPr>
        <p:spPr>
          <a:xfrm>
            <a:off x="1254263" y="2998705"/>
            <a:ext cx="2190273" cy="300082"/>
          </a:xfrm>
          <a:prstGeom prst="rect">
            <a:avLst/>
          </a:prstGeom>
          <a:noFill/>
        </p:spPr>
        <p:txBody>
          <a:bodyPr wrap="square" lIns="0" tIns="0" rIns="0" bIns="0" anchor="t">
            <a:spAutoFit/>
          </a:bodyPr>
          <a:lstStyle/>
          <a:p>
            <a:pPr algn="ctr"/>
            <a:r>
              <a:rPr sz="1950" b="1" i="0" u="none" dirty="0">
                <a:solidFill>
                  <a:srgbClr val="002B49"/>
                </a:solidFill>
                <a:latin typeface="Merriweather" panose="00000500000000000000" pitchFamily="2" charset="0"/>
              </a:rPr>
              <a:t>1. Baseline </a:t>
            </a:r>
            <a:r>
              <a:rPr lang="es-ES" sz="1950" b="1" i="0" u="none" dirty="0">
                <a:solidFill>
                  <a:srgbClr val="002B49"/>
                </a:solidFill>
                <a:latin typeface="Merriweather" panose="00000500000000000000" pitchFamily="2" charset="0"/>
              </a:rPr>
              <a:t>c</a:t>
            </a:r>
            <a:r>
              <a:rPr sz="1950" b="1" i="0" u="none" dirty="0" err="1">
                <a:solidFill>
                  <a:srgbClr val="002B49"/>
                </a:solidFill>
                <a:latin typeface="Merriweather" panose="00000500000000000000" pitchFamily="2" charset="0"/>
              </a:rPr>
              <a:t>rudo</a:t>
            </a:r>
            <a:endParaRPr sz="1950" b="1" i="0" u="none" dirty="0">
              <a:solidFill>
                <a:srgbClr val="002B49"/>
              </a:solidFill>
              <a:latin typeface="Merriweather" panose="00000500000000000000" pitchFamily="2" charset="0"/>
            </a:endParaRPr>
          </a:p>
        </p:txBody>
      </p:sp>
      <p:sp>
        <p:nvSpPr>
          <p:cNvPr id="17" name="TextBox 6">
            <a:extLst>
              <a:ext uri="{FF2B5EF4-FFF2-40B4-BE49-F238E27FC236}">
                <a16:creationId xmlns:a16="http://schemas.microsoft.com/office/drawing/2014/main" id="{0D5A202A-3A54-3DBA-3EBA-8A5C0E4AB579}"/>
              </a:ext>
            </a:extLst>
          </p:cNvPr>
          <p:cNvSpPr txBox="1"/>
          <p:nvPr/>
        </p:nvSpPr>
        <p:spPr>
          <a:xfrm>
            <a:off x="952500" y="3503530"/>
            <a:ext cx="2793950" cy="2032864"/>
          </a:xfrm>
          <a:prstGeom prst="rect">
            <a:avLst/>
          </a:prstGeom>
          <a:noFill/>
        </p:spPr>
        <p:txBody>
          <a:bodyPr wrap="square" lIns="0" tIns="0" rIns="0" bIns="0" anchor="t">
            <a:spAutoFit/>
          </a:bodyPr>
          <a:lstStyle/>
          <a:p>
            <a:pPr algn="ctr">
              <a:lnSpc>
                <a:spcPts val="2025"/>
              </a:lnSpc>
            </a:pPr>
            <a:r>
              <a:rPr sz="1350" b="1" i="0" u="none" dirty="0" err="1">
                <a:solidFill>
                  <a:srgbClr val="334155"/>
                </a:solidFill>
                <a:latin typeface="Merriweather" panose="00000500000000000000" pitchFamily="2" charset="0"/>
              </a:rPr>
              <a:t>Píxeles</a:t>
            </a:r>
            <a:r>
              <a:rPr sz="1350" b="1" i="0" u="none" dirty="0">
                <a:solidFill>
                  <a:srgbClr val="334155"/>
                </a:solidFill>
                <a:latin typeface="Merriweather" panose="00000500000000000000" pitchFamily="2" charset="0"/>
              </a:rPr>
              <a:t> + SVM:</a:t>
            </a:r>
            <a:r>
              <a:rPr sz="1350" b="0" i="0" u="none" dirty="0">
                <a:solidFill>
                  <a:srgbClr val="334155"/>
                </a:solidFill>
                <a:latin typeface="Merriweather" panose="00000500000000000000" pitchFamily="2" charset="0"/>
              </a:rPr>
              <a:t> Sirve </a:t>
            </a:r>
            <a:r>
              <a:rPr sz="1350" b="0" i="0" u="none" dirty="0" err="1">
                <a:solidFill>
                  <a:srgbClr val="334155"/>
                </a:solidFill>
                <a:latin typeface="Merriweather" panose="00000500000000000000" pitchFamily="2" charset="0"/>
              </a:rPr>
              <a:t>como</a:t>
            </a:r>
            <a:r>
              <a:rPr sz="1350" b="0" i="0" u="none" dirty="0">
                <a:solidFill>
                  <a:srgbClr val="334155"/>
                </a:solidFill>
                <a:latin typeface="Merriweather" panose="00000500000000000000" pitchFamily="2" charset="0"/>
              </a:rPr>
              <a:t> control </a:t>
            </a:r>
            <a:r>
              <a:rPr sz="1350" b="0" i="0" u="none" dirty="0" err="1">
                <a:solidFill>
                  <a:srgbClr val="334155"/>
                </a:solidFill>
                <a:latin typeface="Merriweather" panose="00000500000000000000" pitchFamily="2" charset="0"/>
              </a:rPr>
              <a:t>básico</a:t>
            </a:r>
            <a:r>
              <a:rPr sz="1350" b="0" i="0" u="none" dirty="0">
                <a:solidFill>
                  <a:srgbClr val="334155"/>
                </a:solidFill>
                <a:latin typeface="Merriweather" panose="00000500000000000000" pitchFamily="2" charset="0"/>
              </a:rPr>
              <a:t>. Mide el </a:t>
            </a:r>
            <a:r>
              <a:rPr sz="1350" b="0" i="0" u="none" dirty="0" err="1">
                <a:solidFill>
                  <a:srgbClr val="334155"/>
                </a:solidFill>
                <a:latin typeface="Merriweather" panose="00000500000000000000" pitchFamily="2" charset="0"/>
              </a:rPr>
              <a:t>rendimiento</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aplicando</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una</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Máquina</a:t>
            </a:r>
            <a:r>
              <a:rPr sz="1350" b="0" i="0" u="none" dirty="0">
                <a:solidFill>
                  <a:srgbClr val="334155"/>
                </a:solidFill>
                <a:latin typeface="Merriweather" panose="00000500000000000000" pitchFamily="2" charset="0"/>
              </a:rPr>
              <a:t> de </a:t>
            </a:r>
            <a:r>
              <a:rPr sz="1350" b="0" i="0" u="none" dirty="0" err="1">
                <a:solidFill>
                  <a:srgbClr val="334155"/>
                </a:solidFill>
                <a:latin typeface="Merriweather" panose="00000500000000000000" pitchFamily="2" charset="0"/>
              </a:rPr>
              <a:t>Vectores</a:t>
            </a:r>
            <a:r>
              <a:rPr sz="1350" b="0" i="0" u="none" dirty="0">
                <a:solidFill>
                  <a:srgbClr val="334155"/>
                </a:solidFill>
                <a:latin typeface="Merriweather" panose="00000500000000000000" pitchFamily="2" charset="0"/>
              </a:rPr>
              <a:t> de </a:t>
            </a:r>
            <a:r>
              <a:rPr sz="1350" b="0" i="0" u="none" dirty="0" err="1">
                <a:solidFill>
                  <a:srgbClr val="334155"/>
                </a:solidFill>
                <a:latin typeface="Merriweather" panose="00000500000000000000" pitchFamily="2" charset="0"/>
              </a:rPr>
              <a:t>Soporte</a:t>
            </a:r>
            <a:r>
              <a:rPr sz="1350" b="0" i="0" u="none" dirty="0">
                <a:solidFill>
                  <a:srgbClr val="334155"/>
                </a:solidFill>
                <a:latin typeface="Merriweather" panose="00000500000000000000" pitchFamily="2" charset="0"/>
              </a:rPr>
              <a:t> con kernel </a:t>
            </a:r>
            <a:r>
              <a:rPr sz="1350" b="0" i="0" u="none" dirty="0" err="1">
                <a:solidFill>
                  <a:srgbClr val="334155"/>
                </a:solidFill>
                <a:latin typeface="Merriweather" panose="00000500000000000000" pitchFamily="2" charset="0"/>
              </a:rPr>
              <a:t>gaussiano</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directamente</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sobre</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los</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píxeles</a:t>
            </a:r>
            <a:r>
              <a:rPr sz="1350" b="0" i="0" u="none" dirty="0">
                <a:solidFill>
                  <a:srgbClr val="334155"/>
                </a:solidFill>
                <a:latin typeface="Merriweather" panose="00000500000000000000" pitchFamily="2" charset="0"/>
              </a:rPr>
              <a:t> sin </a:t>
            </a:r>
            <a:r>
              <a:rPr sz="1350" b="0" i="0" u="none" dirty="0" err="1">
                <a:solidFill>
                  <a:srgbClr val="334155"/>
                </a:solidFill>
                <a:latin typeface="Merriweather" panose="00000500000000000000" pitchFamily="2" charset="0"/>
              </a:rPr>
              <a:t>extraer</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características</a:t>
            </a:r>
            <a:r>
              <a:rPr sz="1350" b="0" i="0" u="none" dirty="0">
                <a:solidFill>
                  <a:srgbClr val="334155"/>
                </a:solidFill>
                <a:latin typeface="Merriweather" panose="00000500000000000000" pitchFamily="2" charset="0"/>
              </a:rPr>
              <a:t> previas.</a:t>
            </a:r>
          </a:p>
        </p:txBody>
      </p:sp>
      <p:sp>
        <p:nvSpPr>
          <p:cNvPr id="21" name="TextBox 7">
            <a:extLst>
              <a:ext uri="{FF2B5EF4-FFF2-40B4-BE49-F238E27FC236}">
                <a16:creationId xmlns:a16="http://schemas.microsoft.com/office/drawing/2014/main" id="{1F17D6FE-77CB-973D-5202-5BFCBFC89C8B}"/>
              </a:ext>
            </a:extLst>
          </p:cNvPr>
          <p:cNvSpPr txBox="1"/>
          <p:nvPr/>
        </p:nvSpPr>
        <p:spPr>
          <a:xfrm>
            <a:off x="4990713" y="2998705"/>
            <a:ext cx="2210276" cy="300082"/>
          </a:xfrm>
          <a:prstGeom prst="rect">
            <a:avLst/>
          </a:prstGeom>
          <a:noFill/>
        </p:spPr>
        <p:txBody>
          <a:bodyPr wrap="square" lIns="0" tIns="0" rIns="0" bIns="0" anchor="t">
            <a:spAutoFit/>
          </a:bodyPr>
          <a:lstStyle/>
          <a:p>
            <a:pPr algn="ctr"/>
            <a:r>
              <a:rPr sz="1950" b="1" i="0" u="none" dirty="0">
                <a:solidFill>
                  <a:srgbClr val="002B49"/>
                </a:solidFill>
                <a:latin typeface="Merriweather" panose="00000500000000000000" pitchFamily="2" charset="0"/>
              </a:rPr>
              <a:t>2. </a:t>
            </a:r>
            <a:r>
              <a:rPr sz="1950" b="1" i="0" u="none" dirty="0" err="1">
                <a:solidFill>
                  <a:srgbClr val="002B49"/>
                </a:solidFill>
                <a:latin typeface="Merriweather" panose="00000500000000000000" pitchFamily="2" charset="0"/>
              </a:rPr>
              <a:t>Extracción</a:t>
            </a:r>
            <a:r>
              <a:rPr sz="1950" b="1" i="0" u="none" dirty="0">
                <a:solidFill>
                  <a:srgbClr val="002B49"/>
                </a:solidFill>
                <a:latin typeface="Merriweather" panose="00000500000000000000" pitchFamily="2" charset="0"/>
              </a:rPr>
              <a:t> </a:t>
            </a:r>
            <a:r>
              <a:rPr lang="es-ES" sz="1950" b="1" i="0" u="none" dirty="0">
                <a:solidFill>
                  <a:srgbClr val="002B49"/>
                </a:solidFill>
                <a:latin typeface="Merriweather" panose="00000500000000000000" pitchFamily="2" charset="0"/>
              </a:rPr>
              <a:t>f</a:t>
            </a:r>
            <a:r>
              <a:rPr sz="1950" b="1" i="0" u="none" dirty="0" err="1">
                <a:solidFill>
                  <a:srgbClr val="002B49"/>
                </a:solidFill>
                <a:latin typeface="Merriweather" panose="00000500000000000000" pitchFamily="2" charset="0"/>
              </a:rPr>
              <a:t>ija</a:t>
            </a:r>
            <a:endParaRPr sz="1950" b="1" i="0" u="none" dirty="0">
              <a:solidFill>
                <a:srgbClr val="002B49"/>
              </a:solidFill>
              <a:latin typeface="Merriweather" panose="00000500000000000000" pitchFamily="2" charset="0"/>
            </a:endParaRPr>
          </a:p>
        </p:txBody>
      </p:sp>
      <p:sp>
        <p:nvSpPr>
          <p:cNvPr id="24" name="TextBox 8">
            <a:extLst>
              <a:ext uri="{FF2B5EF4-FFF2-40B4-BE49-F238E27FC236}">
                <a16:creationId xmlns:a16="http://schemas.microsoft.com/office/drawing/2014/main" id="{CDB95FC9-A50B-E3A4-07AB-C4238C47553D}"/>
              </a:ext>
            </a:extLst>
          </p:cNvPr>
          <p:cNvSpPr txBox="1"/>
          <p:nvPr/>
        </p:nvSpPr>
        <p:spPr>
          <a:xfrm>
            <a:off x="4698950" y="3503530"/>
            <a:ext cx="2793950" cy="2032864"/>
          </a:xfrm>
          <a:prstGeom prst="rect">
            <a:avLst/>
          </a:prstGeom>
          <a:noFill/>
        </p:spPr>
        <p:txBody>
          <a:bodyPr wrap="square" lIns="0" tIns="0" rIns="0" bIns="0" anchor="t">
            <a:spAutoFit/>
          </a:bodyPr>
          <a:lstStyle/>
          <a:p>
            <a:pPr algn="ctr">
              <a:lnSpc>
                <a:spcPts val="2025"/>
              </a:lnSpc>
            </a:pPr>
            <a:r>
              <a:rPr sz="1350" b="1" i="0" u="none" dirty="0">
                <a:solidFill>
                  <a:srgbClr val="334155"/>
                </a:solidFill>
                <a:latin typeface="Merriweather" panose="00000500000000000000" pitchFamily="2" charset="0"/>
              </a:rPr>
              <a:t>Scattering + SVM / PCA:</a:t>
            </a:r>
            <a:r>
              <a:rPr sz="1350" b="0" i="0" u="none" dirty="0">
                <a:solidFill>
                  <a:srgbClr val="334155"/>
                </a:solidFill>
                <a:latin typeface="Merriweather" panose="00000500000000000000" pitchFamily="2" charset="0"/>
              </a:rPr>
              <a:t> Se </a:t>
            </a:r>
            <a:r>
              <a:rPr sz="1350" b="0" i="0" u="none" dirty="0" err="1">
                <a:solidFill>
                  <a:srgbClr val="334155"/>
                </a:solidFill>
                <a:latin typeface="Merriweather" panose="00000500000000000000" pitchFamily="2" charset="0"/>
              </a:rPr>
              <a:t>extraen</a:t>
            </a:r>
            <a:r>
              <a:rPr sz="1350" b="0" i="0" u="none" dirty="0">
                <a:solidFill>
                  <a:srgbClr val="334155"/>
                </a:solidFill>
                <a:latin typeface="Merriweather" panose="00000500000000000000" pitchFamily="2" charset="0"/>
              </a:rPr>
              <a:t> las </a:t>
            </a:r>
            <a:r>
              <a:rPr sz="1350" b="0" i="0" u="none" dirty="0" err="1">
                <a:solidFill>
                  <a:srgbClr val="334155"/>
                </a:solidFill>
                <a:latin typeface="Merriweather" panose="00000500000000000000" pitchFamily="2" charset="0"/>
              </a:rPr>
              <a:t>características</a:t>
            </a:r>
            <a:r>
              <a:rPr sz="1350" b="0" i="0" u="none" dirty="0">
                <a:solidFill>
                  <a:srgbClr val="334155"/>
                </a:solidFill>
                <a:latin typeface="Merriweather" panose="00000500000000000000" pitchFamily="2" charset="0"/>
              </a:rPr>
              <a:t> con la </a:t>
            </a:r>
            <a:r>
              <a:rPr sz="1350" b="0" i="0" u="none" dirty="0" err="1">
                <a:solidFill>
                  <a:srgbClr val="334155"/>
                </a:solidFill>
                <a:latin typeface="Merriweather" panose="00000500000000000000" pitchFamily="2" charset="0"/>
              </a:rPr>
              <a:t>cascada</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fija</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matemática</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órdenes</a:t>
            </a:r>
            <a:r>
              <a:rPr sz="1350" b="0" i="0" u="none" dirty="0">
                <a:solidFill>
                  <a:srgbClr val="334155"/>
                </a:solidFill>
                <a:latin typeface="Merriweather" panose="00000500000000000000" pitchFamily="2" charset="0"/>
              </a:rPr>
              <a:t> 1 y 2). Luego, se </a:t>
            </a:r>
            <a:r>
              <a:rPr sz="1350" b="0" i="0" u="none" dirty="0" err="1">
                <a:solidFill>
                  <a:srgbClr val="334155"/>
                </a:solidFill>
                <a:latin typeface="Merriweather" panose="00000500000000000000" pitchFamily="2" charset="0"/>
              </a:rPr>
              <a:t>clasifican</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usando</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una</a:t>
            </a:r>
            <a:r>
              <a:rPr sz="1350" b="0" i="0" u="none" dirty="0">
                <a:solidFill>
                  <a:srgbClr val="334155"/>
                </a:solidFill>
                <a:latin typeface="Merriweather" panose="00000500000000000000" pitchFamily="2" charset="0"/>
              </a:rPr>
              <a:t> SVM (</a:t>
            </a:r>
            <a:r>
              <a:rPr sz="1350" b="0" i="0" u="none" dirty="0" err="1">
                <a:solidFill>
                  <a:srgbClr val="334155"/>
                </a:solidFill>
                <a:latin typeface="Merriweather" panose="00000500000000000000" pitchFamily="2" charset="0"/>
              </a:rPr>
              <a:t>discriminativo</a:t>
            </a:r>
            <a:r>
              <a:rPr sz="1350" b="0" i="0" u="none" dirty="0">
                <a:solidFill>
                  <a:srgbClr val="334155"/>
                </a:solidFill>
                <a:latin typeface="Merriweather" panose="00000500000000000000" pitchFamily="2" charset="0"/>
              </a:rPr>
              <a:t>) o un </a:t>
            </a:r>
            <a:r>
              <a:rPr sz="1350" b="0" i="0" u="none" dirty="0" err="1">
                <a:solidFill>
                  <a:srgbClr val="334155"/>
                </a:solidFill>
                <a:latin typeface="Merriweather" panose="00000500000000000000" pitchFamily="2" charset="0"/>
              </a:rPr>
              <a:t>clasificador</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afín</a:t>
            </a:r>
            <a:r>
              <a:rPr sz="1350" b="0" i="0" u="none" dirty="0">
                <a:solidFill>
                  <a:srgbClr val="334155"/>
                </a:solidFill>
                <a:latin typeface="Merriweather" panose="00000500000000000000" pitchFamily="2" charset="0"/>
              </a:rPr>
              <a:t> PCA (</a:t>
            </a:r>
            <a:r>
              <a:rPr sz="1350" b="0" i="0" u="none" dirty="0" err="1">
                <a:solidFill>
                  <a:srgbClr val="334155"/>
                </a:solidFill>
                <a:latin typeface="Merriweather" panose="00000500000000000000" pitchFamily="2" charset="0"/>
              </a:rPr>
              <a:t>generativo</a:t>
            </a:r>
            <a:r>
              <a:rPr sz="1350" b="0" i="0" u="none" dirty="0">
                <a:solidFill>
                  <a:srgbClr val="334155"/>
                </a:solidFill>
                <a:latin typeface="Merriweather" panose="00000500000000000000" pitchFamily="2" charset="0"/>
              </a:rPr>
              <a:t>).</a:t>
            </a:r>
          </a:p>
        </p:txBody>
      </p:sp>
      <p:sp>
        <p:nvSpPr>
          <p:cNvPr id="26" name="TextBox 9">
            <a:extLst>
              <a:ext uri="{FF2B5EF4-FFF2-40B4-BE49-F238E27FC236}">
                <a16:creationId xmlns:a16="http://schemas.microsoft.com/office/drawing/2014/main" id="{F7788F31-5A2E-FB73-4C6A-83F8B492BE68}"/>
              </a:ext>
            </a:extLst>
          </p:cNvPr>
          <p:cNvSpPr txBox="1"/>
          <p:nvPr/>
        </p:nvSpPr>
        <p:spPr>
          <a:xfrm>
            <a:off x="8852101" y="2998705"/>
            <a:ext cx="1980547" cy="300082"/>
          </a:xfrm>
          <a:prstGeom prst="rect">
            <a:avLst/>
          </a:prstGeom>
          <a:noFill/>
        </p:spPr>
        <p:txBody>
          <a:bodyPr wrap="square" lIns="0" tIns="0" rIns="0" bIns="0" anchor="t">
            <a:spAutoFit/>
          </a:bodyPr>
          <a:lstStyle/>
          <a:p>
            <a:pPr algn="ctr"/>
            <a:r>
              <a:rPr sz="1950" b="1" i="0" u="none" dirty="0">
                <a:solidFill>
                  <a:srgbClr val="002B49"/>
                </a:solidFill>
                <a:latin typeface="Merriweather" panose="00000500000000000000" pitchFamily="2" charset="0"/>
              </a:rPr>
              <a:t>3. End-to-End</a:t>
            </a:r>
          </a:p>
        </p:txBody>
      </p:sp>
      <p:sp>
        <p:nvSpPr>
          <p:cNvPr id="28" name="TextBox 10">
            <a:extLst>
              <a:ext uri="{FF2B5EF4-FFF2-40B4-BE49-F238E27FC236}">
                <a16:creationId xmlns:a16="http://schemas.microsoft.com/office/drawing/2014/main" id="{888A7512-DD5E-0B7F-7E3B-3C988DC9FF55}"/>
              </a:ext>
            </a:extLst>
          </p:cNvPr>
          <p:cNvSpPr txBox="1"/>
          <p:nvPr/>
        </p:nvSpPr>
        <p:spPr>
          <a:xfrm>
            <a:off x="8445400" y="3503530"/>
            <a:ext cx="2793950" cy="1776384"/>
          </a:xfrm>
          <a:prstGeom prst="rect">
            <a:avLst/>
          </a:prstGeom>
          <a:noFill/>
        </p:spPr>
        <p:txBody>
          <a:bodyPr wrap="square" lIns="0" tIns="0" rIns="0" bIns="0" anchor="t">
            <a:spAutoFit/>
          </a:bodyPr>
          <a:lstStyle/>
          <a:p>
            <a:pPr algn="ctr">
              <a:lnSpc>
                <a:spcPts val="2025"/>
              </a:lnSpc>
            </a:pPr>
            <a:r>
              <a:rPr sz="1350" b="1" i="0" u="none" dirty="0">
                <a:solidFill>
                  <a:srgbClr val="334155"/>
                </a:solidFill>
                <a:latin typeface="Merriweather" panose="00000500000000000000" pitchFamily="2" charset="0"/>
              </a:rPr>
              <a:t>CNN </a:t>
            </a:r>
            <a:r>
              <a:rPr sz="1350" b="1" i="0" u="none" dirty="0" err="1">
                <a:solidFill>
                  <a:srgbClr val="334155"/>
                </a:solidFill>
                <a:latin typeface="Merriweather" panose="00000500000000000000" pitchFamily="2" charset="0"/>
              </a:rPr>
              <a:t>Entrenada</a:t>
            </a:r>
            <a:r>
              <a:rPr sz="1350" b="1" i="0" u="none" dirty="0">
                <a:solidFill>
                  <a:srgbClr val="334155"/>
                </a:solidFill>
                <a:latin typeface="Merriweather" panose="00000500000000000000" pitchFamily="2" charset="0"/>
              </a:rPr>
              <a:t>:</a:t>
            </a:r>
            <a:r>
              <a:rPr sz="1350" b="0" i="0" u="none" dirty="0">
                <a:solidFill>
                  <a:srgbClr val="334155"/>
                </a:solidFill>
                <a:latin typeface="Merriweather" panose="00000500000000000000" pitchFamily="2" charset="0"/>
              </a:rPr>
              <a:t> El rival a </a:t>
            </a:r>
            <a:r>
              <a:rPr sz="1350" b="0" i="0" u="none" dirty="0" err="1">
                <a:solidFill>
                  <a:srgbClr val="334155"/>
                </a:solidFill>
                <a:latin typeface="Merriweather" panose="00000500000000000000" pitchFamily="2" charset="0"/>
              </a:rPr>
              <a:t>vencer</a:t>
            </a:r>
            <a:r>
              <a:rPr sz="1350" b="0" i="0" u="none" dirty="0">
                <a:solidFill>
                  <a:srgbClr val="334155"/>
                </a:solidFill>
                <a:latin typeface="Merriweather" panose="00000500000000000000" pitchFamily="2" charset="0"/>
              </a:rPr>
              <a:t>. Una red neuronal </a:t>
            </a:r>
            <a:r>
              <a:rPr sz="1350" b="0" i="0" u="none" dirty="0" err="1">
                <a:solidFill>
                  <a:srgbClr val="334155"/>
                </a:solidFill>
                <a:latin typeface="Merriweather" panose="00000500000000000000" pitchFamily="2" charset="0"/>
              </a:rPr>
              <a:t>convolucional</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donde</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arquitectura</a:t>
            </a:r>
            <a:r>
              <a:rPr sz="1350" b="0" i="0" u="none" dirty="0">
                <a:solidFill>
                  <a:srgbClr val="334155"/>
                </a:solidFill>
                <a:latin typeface="Merriweather" panose="00000500000000000000" pitchFamily="2" charset="0"/>
              </a:rPr>
              <a:t> y </a:t>
            </a:r>
            <a:r>
              <a:rPr sz="1350" b="0" i="0" u="none" dirty="0" err="1">
                <a:solidFill>
                  <a:srgbClr val="334155"/>
                </a:solidFill>
                <a:latin typeface="Merriweather" panose="00000500000000000000" pitchFamily="2" charset="0"/>
              </a:rPr>
              <a:t>filtros</a:t>
            </a:r>
            <a:r>
              <a:rPr sz="1350" b="0" i="0" u="none" dirty="0">
                <a:solidFill>
                  <a:srgbClr val="334155"/>
                </a:solidFill>
                <a:latin typeface="Merriweather" panose="00000500000000000000" pitchFamily="2" charset="0"/>
              </a:rPr>
              <a:t> (pesos) se </a:t>
            </a:r>
            <a:r>
              <a:rPr sz="1350" b="0" i="0" u="none" dirty="0" err="1">
                <a:solidFill>
                  <a:srgbClr val="334155"/>
                </a:solidFill>
                <a:latin typeface="Merriweather" panose="00000500000000000000" pitchFamily="2" charset="0"/>
              </a:rPr>
              <a:t>aprenden</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simultáneamente</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desde</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los</a:t>
            </a:r>
            <a:r>
              <a:rPr sz="1350" b="0" i="0" u="none" dirty="0">
                <a:solidFill>
                  <a:srgbClr val="334155"/>
                </a:solidFill>
                <a:latin typeface="Merriweather" panose="00000500000000000000" pitchFamily="2" charset="0"/>
              </a:rPr>
              <a:t> </a:t>
            </a:r>
            <a:r>
              <a:rPr sz="1350" b="0" i="0" u="none" dirty="0" err="1">
                <a:solidFill>
                  <a:srgbClr val="334155"/>
                </a:solidFill>
                <a:latin typeface="Merriweather" panose="00000500000000000000" pitchFamily="2" charset="0"/>
              </a:rPr>
              <a:t>datos</a:t>
            </a:r>
            <a:r>
              <a:rPr sz="1350" b="0" i="0" u="none" dirty="0">
                <a:solidFill>
                  <a:srgbClr val="334155"/>
                </a:solidFill>
                <a:latin typeface="Merriweather" panose="00000500000000000000" pitchFamily="2" charset="0"/>
              </a:rPr>
              <a:t> de </a:t>
            </a:r>
            <a:r>
              <a:rPr sz="1350" b="0" i="0" u="none" dirty="0" err="1">
                <a:solidFill>
                  <a:srgbClr val="334155"/>
                </a:solidFill>
                <a:latin typeface="Merriweather" panose="00000500000000000000" pitchFamily="2" charset="0"/>
              </a:rPr>
              <a:t>entrenamiento</a:t>
            </a:r>
            <a:r>
              <a:rPr sz="1350" b="0" i="0" u="none" dirty="0">
                <a:solidFill>
                  <a:srgbClr val="334155"/>
                </a:solidFill>
                <a:latin typeface="Merriweather" panose="00000500000000000000" pitchFamily="2" charset="0"/>
              </a:rPr>
              <a:t>.</a:t>
            </a:r>
          </a:p>
        </p:txBody>
      </p:sp>
    </p:spTree>
    <p:extLst>
      <p:ext uri="{BB962C8B-B14F-4D97-AF65-F5344CB8AC3E}">
        <p14:creationId xmlns:p14="http://schemas.microsoft.com/office/powerpoint/2010/main" val="4274926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B50B117-76FE-7B48-8754-79CD47A83B74}"/>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0A03D11B-C076-10E6-5067-EC4396A0697E}"/>
              </a:ext>
            </a:extLst>
          </p:cNvPr>
          <p:cNvSpPr txBox="1"/>
          <p:nvPr/>
        </p:nvSpPr>
        <p:spPr>
          <a:xfrm>
            <a:off x="395287" y="476250"/>
            <a:ext cx="11401425" cy="553998"/>
          </a:xfrm>
          <a:prstGeom prst="rect">
            <a:avLst/>
          </a:prstGeom>
          <a:noFill/>
        </p:spPr>
        <p:txBody>
          <a:bodyPr wrap="square" lIns="0" tIns="0" rIns="0" bIns="0" anchor="t">
            <a:spAutoFit/>
          </a:bodyPr>
          <a:lstStyle/>
          <a:p>
            <a:pPr algn="ctr"/>
            <a:r>
              <a:rPr lang="es-ES" sz="3600" b="1" dirty="0">
                <a:solidFill>
                  <a:srgbClr val="002B49"/>
                </a:solidFill>
                <a:latin typeface="Merriweather"/>
              </a:rPr>
              <a:t>Configuración</a:t>
            </a:r>
            <a:r>
              <a:rPr lang="es-ES" sz="3450" b="1" dirty="0">
                <a:solidFill>
                  <a:srgbClr val="002B49"/>
                </a:solidFill>
                <a:latin typeface="Merriweather"/>
              </a:rPr>
              <a:t> del experimento</a:t>
            </a:r>
          </a:p>
        </p:txBody>
      </p:sp>
      <p:pic>
        <p:nvPicPr>
          <p:cNvPr id="4" name="Imagen 3">
            <a:extLst>
              <a:ext uri="{FF2B5EF4-FFF2-40B4-BE49-F238E27FC236}">
                <a16:creationId xmlns:a16="http://schemas.microsoft.com/office/drawing/2014/main" id="{64367CEE-92D1-1D51-2313-9532C4A2C0FD}"/>
              </a:ext>
            </a:extLst>
          </p:cNvPr>
          <p:cNvPicPr>
            <a:picLocks noChangeAspect="1"/>
          </p:cNvPicPr>
          <p:nvPr/>
        </p:nvPicPr>
        <p:blipFill>
          <a:blip r:embed="rId3"/>
          <a:stretch>
            <a:fillRect/>
          </a:stretch>
        </p:blipFill>
        <p:spPr>
          <a:xfrm>
            <a:off x="6295485" y="2064192"/>
            <a:ext cx="5501227" cy="2729616"/>
          </a:xfrm>
          <a:prstGeom prst="rect">
            <a:avLst/>
          </a:prstGeom>
        </p:spPr>
      </p:pic>
      <p:sp>
        <p:nvSpPr>
          <p:cNvPr id="7" name="TextBox 3">
            <a:extLst>
              <a:ext uri="{FF2B5EF4-FFF2-40B4-BE49-F238E27FC236}">
                <a16:creationId xmlns:a16="http://schemas.microsoft.com/office/drawing/2014/main" id="{3DF3C8EA-323E-B337-F71D-5EC869A5B237}"/>
              </a:ext>
            </a:extLst>
          </p:cNvPr>
          <p:cNvSpPr txBox="1"/>
          <p:nvPr/>
        </p:nvSpPr>
        <p:spPr>
          <a:xfrm>
            <a:off x="741333" y="1814348"/>
            <a:ext cx="4977980" cy="571500"/>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1" i="0" u="none" dirty="0">
                <a:latin typeface="Merriweather" panose="00000500000000000000" pitchFamily="2" charset="0"/>
              </a:rPr>
              <a:t>Dataset:</a:t>
            </a:r>
            <a:r>
              <a:rPr sz="1500" b="0" i="0" u="none" dirty="0">
                <a:latin typeface="Merriweather" panose="00000500000000000000" pitchFamily="2" charset="0"/>
              </a:rPr>
              <a:t> MNIST (</a:t>
            </a:r>
            <a:r>
              <a:rPr sz="1500" b="0" i="0" u="none" dirty="0" err="1">
                <a:latin typeface="Merriweather" panose="00000500000000000000" pitchFamily="2" charset="0"/>
              </a:rPr>
              <a:t>dígitos</a:t>
            </a:r>
            <a:r>
              <a:rPr sz="1500" b="0" i="0" u="none" dirty="0">
                <a:latin typeface="Merriweather" panose="00000500000000000000" pitchFamily="2" charset="0"/>
              </a:rPr>
              <a:t> </a:t>
            </a:r>
            <a:r>
              <a:rPr sz="1500" b="0" i="0" u="none" dirty="0" err="1">
                <a:latin typeface="Merriweather" panose="00000500000000000000" pitchFamily="2" charset="0"/>
              </a:rPr>
              <a:t>manuscritos</a:t>
            </a:r>
            <a:r>
              <a:rPr sz="1500" b="0" i="0" u="none" dirty="0">
                <a:latin typeface="Merriweather" panose="00000500000000000000" pitchFamily="2" charset="0"/>
              </a:rPr>
              <a:t>) </a:t>
            </a:r>
            <a:r>
              <a:rPr sz="1500" b="0" i="0" u="none" dirty="0" err="1">
                <a:latin typeface="Merriweather" panose="00000500000000000000" pitchFamily="2" charset="0"/>
              </a:rPr>
              <a:t>centrados</a:t>
            </a:r>
            <a:r>
              <a:rPr sz="1500" b="0" i="0" u="none" dirty="0">
                <a:latin typeface="Merriweather" panose="00000500000000000000" pitchFamily="2" charset="0"/>
              </a:rPr>
              <a:t> </a:t>
            </a:r>
            <a:r>
              <a:rPr sz="1500" b="0" i="0" u="none" dirty="0" err="1">
                <a:latin typeface="Merriweather" panose="00000500000000000000" pitchFamily="2" charset="0"/>
              </a:rPr>
              <a:t>en</a:t>
            </a:r>
            <a:r>
              <a:rPr sz="1500" b="0" i="0" u="none" dirty="0">
                <a:latin typeface="Merriweather" panose="00000500000000000000" pitchFamily="2" charset="0"/>
              </a:rPr>
              <a:t> </a:t>
            </a:r>
            <a:r>
              <a:rPr sz="1500" b="0" i="0" u="none" dirty="0" err="1">
                <a:latin typeface="Merriweather" panose="00000500000000000000" pitchFamily="2" charset="0"/>
              </a:rPr>
              <a:t>lienzos</a:t>
            </a:r>
            <a:r>
              <a:rPr sz="1500" b="0" i="0" u="none" dirty="0">
                <a:latin typeface="Merriweather" panose="00000500000000000000" pitchFamily="2" charset="0"/>
              </a:rPr>
              <a:t> de 32x32 </a:t>
            </a:r>
            <a:r>
              <a:rPr sz="1500" b="0" i="0" u="none" dirty="0" err="1">
                <a:latin typeface="Merriweather" panose="00000500000000000000" pitchFamily="2" charset="0"/>
              </a:rPr>
              <a:t>píxeles</a:t>
            </a:r>
            <a:r>
              <a:rPr sz="1500" b="0" i="0" u="none" dirty="0">
                <a:latin typeface="Merriweather" panose="00000500000000000000" pitchFamily="2" charset="0"/>
              </a:rPr>
              <a:t>.</a:t>
            </a:r>
          </a:p>
        </p:txBody>
      </p:sp>
      <p:sp>
        <p:nvSpPr>
          <p:cNvPr id="11" name="TextBox 4">
            <a:extLst>
              <a:ext uri="{FF2B5EF4-FFF2-40B4-BE49-F238E27FC236}">
                <a16:creationId xmlns:a16="http://schemas.microsoft.com/office/drawing/2014/main" id="{97D06AC2-D963-8436-3532-3D90D07E1331}"/>
              </a:ext>
            </a:extLst>
          </p:cNvPr>
          <p:cNvSpPr txBox="1"/>
          <p:nvPr/>
        </p:nvSpPr>
        <p:spPr>
          <a:xfrm>
            <a:off x="741333" y="2623973"/>
            <a:ext cx="4977980" cy="571500"/>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1" i="0" u="none" dirty="0" err="1">
                <a:latin typeface="Merriweather" panose="00000500000000000000" pitchFamily="2" charset="0"/>
              </a:rPr>
              <a:t>Parámetros</a:t>
            </a:r>
            <a:r>
              <a:rPr sz="1500" b="1" i="0" u="none" dirty="0">
                <a:latin typeface="Merriweather" panose="00000500000000000000" pitchFamily="2" charset="0"/>
              </a:rPr>
              <a:t> </a:t>
            </a:r>
            <a:r>
              <a:rPr lang="es-ES" sz="1500" b="1" i="0" u="none" dirty="0">
                <a:latin typeface="Merriweather" panose="00000500000000000000" pitchFamily="2" charset="0"/>
              </a:rPr>
              <a:t>s</a:t>
            </a:r>
            <a:r>
              <a:rPr sz="1500" b="1" i="0" u="none" dirty="0" err="1">
                <a:latin typeface="Merriweather" panose="00000500000000000000" pitchFamily="2" charset="0"/>
              </a:rPr>
              <a:t>cattering</a:t>
            </a:r>
            <a:r>
              <a:rPr sz="1500" b="1" i="0" u="none" dirty="0">
                <a:latin typeface="Merriweather" panose="00000500000000000000" pitchFamily="2" charset="0"/>
              </a:rPr>
              <a:t>:</a:t>
            </a:r>
            <a:r>
              <a:rPr sz="1500" b="0" i="0" u="none" dirty="0">
                <a:latin typeface="Merriweather" panose="00000500000000000000" pitchFamily="2" charset="0"/>
              </a:rPr>
              <a:t> Escala </a:t>
            </a:r>
            <a:r>
              <a:rPr sz="1500" b="0" i="0" u="none" dirty="0" err="1">
                <a:latin typeface="Merriweather" panose="00000500000000000000" pitchFamily="2" charset="0"/>
              </a:rPr>
              <a:t>máxima</a:t>
            </a:r>
            <a:r>
              <a:rPr sz="1500" b="0" i="0" u="none" dirty="0">
                <a:latin typeface="Merriweather" panose="00000500000000000000" pitchFamily="2" charset="0"/>
              </a:rPr>
              <a:t> </a:t>
            </a:r>
            <a:r>
              <a:rPr sz="1500" b="0" i="1" u="none" dirty="0">
                <a:latin typeface="Merriweather" panose="00000500000000000000" pitchFamily="2" charset="0"/>
              </a:rPr>
              <a:t>J=3</a:t>
            </a:r>
            <a:r>
              <a:rPr sz="1500" b="0" i="0" u="none" dirty="0">
                <a:latin typeface="Merriweather" panose="00000500000000000000" pitchFamily="2" charset="0"/>
              </a:rPr>
              <a:t>, </a:t>
            </a:r>
            <a:r>
              <a:rPr lang="es-ES" sz="1500" dirty="0">
                <a:latin typeface="Merriweather" panose="00000500000000000000" pitchFamily="2" charset="0"/>
              </a:rPr>
              <a:t>o</a:t>
            </a:r>
            <a:r>
              <a:rPr sz="1500" b="0" i="0" u="none" dirty="0" err="1">
                <a:latin typeface="Merriweather" panose="00000500000000000000" pitchFamily="2" charset="0"/>
              </a:rPr>
              <a:t>rientaciones</a:t>
            </a:r>
            <a:r>
              <a:rPr sz="1500" b="0" i="0" u="none" dirty="0">
                <a:latin typeface="Merriweather" panose="00000500000000000000" pitchFamily="2" charset="0"/>
              </a:rPr>
              <a:t> </a:t>
            </a:r>
            <a:r>
              <a:rPr sz="1500" b="0" i="1" u="none" dirty="0">
                <a:latin typeface="Merriweather" panose="00000500000000000000" pitchFamily="2" charset="0"/>
              </a:rPr>
              <a:t>L=8</a:t>
            </a:r>
            <a:r>
              <a:rPr sz="1500" b="0" i="0" u="none" dirty="0">
                <a:latin typeface="Merriweather" panose="00000500000000000000" pitchFamily="2" charset="0"/>
              </a:rPr>
              <a:t>. </a:t>
            </a:r>
            <a:r>
              <a:rPr sz="1500" b="0" i="0" u="none" dirty="0" err="1">
                <a:latin typeface="Merriweather" panose="00000500000000000000" pitchFamily="2" charset="0"/>
              </a:rPr>
              <a:t>Extraído</a:t>
            </a:r>
            <a:r>
              <a:rPr sz="1500" b="0" i="0" u="none" dirty="0">
                <a:latin typeface="Merriweather" panose="00000500000000000000" pitchFamily="2" charset="0"/>
              </a:rPr>
              <a:t> con </a:t>
            </a:r>
            <a:r>
              <a:rPr sz="1500" b="0" i="0" u="none" dirty="0" err="1">
                <a:latin typeface="Merriweather" panose="00000500000000000000" pitchFamily="2" charset="0"/>
              </a:rPr>
              <a:t>Kymatio</a:t>
            </a:r>
            <a:r>
              <a:rPr sz="1500" b="0" i="0" u="none" dirty="0">
                <a:latin typeface="Merriweather" panose="00000500000000000000" pitchFamily="2" charset="0"/>
              </a:rPr>
              <a:t>.</a:t>
            </a:r>
          </a:p>
        </p:txBody>
      </p:sp>
      <p:sp>
        <p:nvSpPr>
          <p:cNvPr id="14" name="TextBox 5">
            <a:extLst>
              <a:ext uri="{FF2B5EF4-FFF2-40B4-BE49-F238E27FC236}">
                <a16:creationId xmlns:a16="http://schemas.microsoft.com/office/drawing/2014/main" id="{F42785AB-9C8E-949C-EC60-FD282669DE45}"/>
              </a:ext>
            </a:extLst>
          </p:cNvPr>
          <p:cNvSpPr txBox="1"/>
          <p:nvPr/>
        </p:nvSpPr>
        <p:spPr>
          <a:xfrm>
            <a:off x="741333" y="3433598"/>
            <a:ext cx="4977980" cy="861839"/>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0" i="0" u="none" dirty="0">
                <a:latin typeface="Merriweather" panose="00000500000000000000" pitchFamily="2" charset="0"/>
              </a:rPr>
              <a:t>Todos </a:t>
            </a:r>
            <a:r>
              <a:rPr sz="1500" b="0" i="0" u="none" dirty="0" err="1">
                <a:latin typeface="Merriweather" panose="00000500000000000000" pitchFamily="2" charset="0"/>
              </a:rPr>
              <a:t>los</a:t>
            </a:r>
            <a:r>
              <a:rPr sz="1500" b="0" i="0" u="none" dirty="0">
                <a:latin typeface="Merriweather" panose="00000500000000000000" pitchFamily="2" charset="0"/>
              </a:rPr>
              <a:t> </a:t>
            </a:r>
            <a:r>
              <a:rPr sz="1500" b="0" i="0" u="none" dirty="0" err="1">
                <a:latin typeface="Merriweather" panose="00000500000000000000" pitchFamily="2" charset="0"/>
              </a:rPr>
              <a:t>modelos</a:t>
            </a:r>
            <a:r>
              <a:rPr sz="1500" b="0" i="0" u="none" dirty="0">
                <a:latin typeface="Merriweather" panose="00000500000000000000" pitchFamily="2" charset="0"/>
              </a:rPr>
              <a:t> </a:t>
            </a:r>
            <a:r>
              <a:rPr sz="1500" b="0" i="0" u="none" dirty="0" err="1">
                <a:latin typeface="Merriweather" panose="00000500000000000000" pitchFamily="2" charset="0"/>
              </a:rPr>
              <a:t>reciben</a:t>
            </a:r>
            <a:r>
              <a:rPr sz="1500" b="0" i="0" u="none" dirty="0">
                <a:latin typeface="Merriweather" panose="00000500000000000000" pitchFamily="2" charset="0"/>
              </a:rPr>
              <a:t> las </a:t>
            </a:r>
            <a:r>
              <a:rPr sz="1500" b="0" i="0" u="none" dirty="0" err="1">
                <a:latin typeface="Merriweather" panose="00000500000000000000" pitchFamily="2" charset="0"/>
              </a:rPr>
              <a:t>mismas</a:t>
            </a:r>
            <a:r>
              <a:rPr sz="1500" b="0" i="0" u="none" dirty="0">
                <a:latin typeface="Merriweather" panose="00000500000000000000" pitchFamily="2" charset="0"/>
              </a:rPr>
              <a:t> </a:t>
            </a:r>
            <a:r>
              <a:rPr sz="1500" b="0" i="0" u="none" dirty="0" err="1">
                <a:latin typeface="Merriweather" panose="00000500000000000000" pitchFamily="2" charset="0"/>
              </a:rPr>
              <a:t>subdivisiones</a:t>
            </a:r>
            <a:r>
              <a:rPr sz="1500" b="0" i="0" u="none" dirty="0">
                <a:latin typeface="Merriweather" panose="00000500000000000000" pitchFamily="2" charset="0"/>
              </a:rPr>
              <a:t> de </a:t>
            </a:r>
            <a:r>
              <a:rPr sz="1500" b="0" i="0" u="none" dirty="0" err="1">
                <a:latin typeface="Merriweather" panose="00000500000000000000" pitchFamily="2" charset="0"/>
              </a:rPr>
              <a:t>datos</a:t>
            </a:r>
            <a:r>
              <a:rPr sz="1500" b="0" i="0" u="none" dirty="0">
                <a:latin typeface="Merriweather" panose="00000500000000000000" pitchFamily="2" charset="0"/>
              </a:rPr>
              <a:t> </a:t>
            </a:r>
            <a:r>
              <a:rPr sz="1500" b="0" i="0" u="none" dirty="0" err="1">
                <a:latin typeface="Merriweather" panose="00000500000000000000" pitchFamily="2" charset="0"/>
              </a:rPr>
              <a:t>estratificadas</a:t>
            </a:r>
            <a:r>
              <a:rPr sz="1500" b="0" i="0" u="none" dirty="0">
                <a:latin typeface="Merriweather" panose="00000500000000000000" pitchFamily="2" charset="0"/>
              </a:rPr>
              <a:t> </a:t>
            </a:r>
            <a:r>
              <a:rPr sz="1500" b="0" i="0" u="none" dirty="0" err="1">
                <a:latin typeface="Merriweather" panose="00000500000000000000" pitchFamily="2" charset="0"/>
              </a:rPr>
              <a:t>por</a:t>
            </a:r>
            <a:r>
              <a:rPr sz="1500" b="0" i="0" u="none" dirty="0">
                <a:latin typeface="Merriweather" panose="00000500000000000000" pitchFamily="2" charset="0"/>
              </a:rPr>
              <a:t> </a:t>
            </a:r>
            <a:r>
              <a:rPr sz="1500" b="0" i="0" u="none" dirty="0" err="1">
                <a:latin typeface="Merriweather" panose="00000500000000000000" pitchFamily="2" charset="0"/>
              </a:rPr>
              <a:t>tamaño</a:t>
            </a:r>
            <a:r>
              <a:rPr sz="1500" b="0" i="0" u="none" dirty="0">
                <a:latin typeface="Merriweather" panose="00000500000000000000" pitchFamily="2" charset="0"/>
              </a:rPr>
              <a:t> </a:t>
            </a:r>
            <a:r>
              <a:rPr sz="1500" b="0" i="1" u="none" dirty="0">
                <a:latin typeface="Merriweather" panose="00000500000000000000" pitchFamily="2" charset="0"/>
              </a:rPr>
              <a:t>n</a:t>
            </a:r>
            <a:r>
              <a:rPr sz="1500" b="0" i="0" u="none" dirty="0">
                <a:latin typeface="Merriweather" panose="00000500000000000000" pitchFamily="2" charset="0"/>
              </a:rPr>
              <a:t>.</a:t>
            </a:r>
          </a:p>
        </p:txBody>
      </p:sp>
      <p:sp>
        <p:nvSpPr>
          <p:cNvPr id="17" name="TextBox 6">
            <a:extLst>
              <a:ext uri="{FF2B5EF4-FFF2-40B4-BE49-F238E27FC236}">
                <a16:creationId xmlns:a16="http://schemas.microsoft.com/office/drawing/2014/main" id="{CAB8353C-5A30-313C-A4B6-838B1680F335}"/>
              </a:ext>
            </a:extLst>
          </p:cNvPr>
          <p:cNvSpPr txBox="1"/>
          <p:nvPr/>
        </p:nvSpPr>
        <p:spPr>
          <a:xfrm>
            <a:off x="741333" y="4528973"/>
            <a:ext cx="4977980" cy="861261"/>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0" i="0" u="none" dirty="0">
                <a:latin typeface="Merriweather" panose="00000500000000000000" pitchFamily="2" charset="0"/>
              </a:rPr>
              <a:t>Cross-validation de 3 </a:t>
            </a:r>
            <a:r>
              <a:rPr sz="1500" b="0" i="0" u="none" dirty="0" err="1">
                <a:latin typeface="Merriweather" panose="00000500000000000000" pitchFamily="2" charset="0"/>
              </a:rPr>
              <a:t>pliegues</a:t>
            </a:r>
            <a:r>
              <a:rPr sz="1500" b="0" i="0" u="none" dirty="0">
                <a:latin typeface="Merriweather" panose="00000500000000000000" pitchFamily="2" charset="0"/>
              </a:rPr>
              <a:t>. Todos </a:t>
            </a:r>
            <a:r>
              <a:rPr sz="1500" b="0" i="0" u="none" dirty="0" err="1">
                <a:latin typeface="Merriweather" panose="00000500000000000000" pitchFamily="2" charset="0"/>
              </a:rPr>
              <a:t>los</a:t>
            </a:r>
            <a:r>
              <a:rPr sz="1500" b="0" i="0" u="none" dirty="0">
                <a:latin typeface="Merriweather" panose="00000500000000000000" pitchFamily="2" charset="0"/>
              </a:rPr>
              <a:t> </a:t>
            </a:r>
            <a:r>
              <a:rPr sz="1500" b="0" i="0" u="none" dirty="0" err="1">
                <a:latin typeface="Merriweather" panose="00000500000000000000" pitchFamily="2" charset="0"/>
              </a:rPr>
              <a:t>resultados</a:t>
            </a:r>
            <a:r>
              <a:rPr sz="1500" b="0" i="0" u="none" dirty="0">
                <a:latin typeface="Merriweather" panose="00000500000000000000" pitchFamily="2" charset="0"/>
              </a:rPr>
              <a:t> son el </a:t>
            </a:r>
            <a:r>
              <a:rPr sz="1500" b="0" i="0" u="none" dirty="0" err="1">
                <a:latin typeface="Merriweather" panose="00000500000000000000" pitchFamily="2" charset="0"/>
              </a:rPr>
              <a:t>promedio</a:t>
            </a:r>
            <a:r>
              <a:rPr sz="1500" b="0" i="0" u="none" dirty="0">
                <a:latin typeface="Merriweather" panose="00000500000000000000" pitchFamily="2" charset="0"/>
              </a:rPr>
              <a:t> </a:t>
            </a:r>
            <a:r>
              <a:rPr sz="1500" b="0" i="0" u="none" dirty="0" err="1">
                <a:latin typeface="Merriweather" panose="00000500000000000000" pitchFamily="2" charset="0"/>
              </a:rPr>
              <a:t>sobre</a:t>
            </a:r>
            <a:r>
              <a:rPr sz="1500" b="0" i="0" u="none" dirty="0">
                <a:latin typeface="Merriweather" panose="00000500000000000000" pitchFamily="2" charset="0"/>
              </a:rPr>
              <a:t> </a:t>
            </a:r>
            <a:r>
              <a:rPr sz="1500" i="0" u="none" dirty="0">
                <a:latin typeface="Merriweather" panose="00000500000000000000" pitchFamily="2" charset="0"/>
              </a:rPr>
              <a:t>5 </a:t>
            </a:r>
            <a:r>
              <a:rPr sz="1500" i="0" u="none" dirty="0" err="1">
                <a:latin typeface="Merriweather" panose="00000500000000000000" pitchFamily="2" charset="0"/>
              </a:rPr>
              <a:t>semillas</a:t>
            </a:r>
            <a:r>
              <a:rPr sz="1500" i="0" u="none" dirty="0">
                <a:latin typeface="Merriweather" panose="00000500000000000000" pitchFamily="2" charset="0"/>
              </a:rPr>
              <a:t> </a:t>
            </a:r>
            <a:r>
              <a:rPr sz="1500" i="0" u="none" dirty="0" err="1">
                <a:latin typeface="Merriweather" panose="00000500000000000000" pitchFamily="2" charset="0"/>
              </a:rPr>
              <a:t>diferentes</a:t>
            </a:r>
            <a:r>
              <a:rPr sz="1500" i="0" u="none" dirty="0">
                <a:latin typeface="Merriweather" panose="00000500000000000000" pitchFamily="2" charset="0"/>
              </a:rPr>
              <a:t>.</a:t>
            </a:r>
          </a:p>
        </p:txBody>
      </p:sp>
    </p:spTree>
    <p:extLst>
      <p:ext uri="{BB962C8B-B14F-4D97-AF65-F5344CB8AC3E}">
        <p14:creationId xmlns:p14="http://schemas.microsoft.com/office/powerpoint/2010/main" val="1264776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C70534-F9DF-3488-E8E8-9FC4A728C81C}"/>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6BE65A46-68F2-773A-3F6F-E49B6DBFE389}"/>
              </a:ext>
            </a:extLst>
          </p:cNvPr>
          <p:cNvSpPr txBox="1"/>
          <p:nvPr/>
        </p:nvSpPr>
        <p:spPr>
          <a:xfrm>
            <a:off x="395287" y="562514"/>
            <a:ext cx="11401425" cy="553998"/>
          </a:xfrm>
          <a:prstGeom prst="rect">
            <a:avLst/>
          </a:prstGeom>
          <a:noFill/>
        </p:spPr>
        <p:txBody>
          <a:bodyPr wrap="square" lIns="0" tIns="0" rIns="0" bIns="0" anchor="t">
            <a:spAutoFit/>
          </a:bodyPr>
          <a:lstStyle/>
          <a:p>
            <a:pPr algn="ctr"/>
            <a:r>
              <a:rPr lang="es-ES" sz="3600" b="1" dirty="0">
                <a:solidFill>
                  <a:srgbClr val="002B49"/>
                </a:solidFill>
                <a:latin typeface="Merriweather"/>
              </a:rPr>
              <a:t>Resultados</a:t>
            </a:r>
          </a:p>
        </p:txBody>
      </p:sp>
      <p:pic>
        <p:nvPicPr>
          <p:cNvPr id="3" name="Imagen 2">
            <a:extLst>
              <a:ext uri="{FF2B5EF4-FFF2-40B4-BE49-F238E27FC236}">
                <a16:creationId xmlns:a16="http://schemas.microsoft.com/office/drawing/2014/main" id="{092EBA34-EA1A-8ADE-EC24-85C56BF275C7}"/>
              </a:ext>
            </a:extLst>
          </p:cNvPr>
          <p:cNvPicPr>
            <a:picLocks noChangeAspect="1"/>
          </p:cNvPicPr>
          <p:nvPr/>
        </p:nvPicPr>
        <p:blipFill>
          <a:blip r:embed="rId3"/>
          <a:stretch>
            <a:fillRect/>
          </a:stretch>
        </p:blipFill>
        <p:spPr>
          <a:xfrm>
            <a:off x="526507" y="2056806"/>
            <a:ext cx="11138985" cy="2744387"/>
          </a:xfrm>
          <a:prstGeom prst="rect">
            <a:avLst/>
          </a:prstGeom>
        </p:spPr>
      </p:pic>
    </p:spTree>
    <p:extLst>
      <p:ext uri="{BB962C8B-B14F-4D97-AF65-F5344CB8AC3E}">
        <p14:creationId xmlns:p14="http://schemas.microsoft.com/office/powerpoint/2010/main" val="128881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0AAABE-8308-1F59-5906-AE12739B933B}"/>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65A85274-E9AE-5D12-4570-52D22A2F38E0}"/>
              </a:ext>
            </a:extLst>
          </p:cNvPr>
          <p:cNvSpPr txBox="1"/>
          <p:nvPr/>
        </p:nvSpPr>
        <p:spPr>
          <a:xfrm>
            <a:off x="395287" y="562514"/>
            <a:ext cx="11401425" cy="553998"/>
          </a:xfrm>
          <a:prstGeom prst="rect">
            <a:avLst/>
          </a:prstGeom>
          <a:noFill/>
        </p:spPr>
        <p:txBody>
          <a:bodyPr wrap="square" lIns="0" tIns="0" rIns="0" bIns="0" anchor="t">
            <a:spAutoFit/>
          </a:bodyPr>
          <a:lstStyle/>
          <a:p>
            <a:pPr algn="ctr"/>
            <a:r>
              <a:rPr lang="es-ES" sz="3600" b="1" dirty="0">
                <a:solidFill>
                  <a:srgbClr val="002B49"/>
                </a:solidFill>
                <a:latin typeface="Merriweather"/>
              </a:rPr>
              <a:t>Rendimiento</a:t>
            </a:r>
          </a:p>
        </p:txBody>
      </p:sp>
      <p:pic>
        <p:nvPicPr>
          <p:cNvPr id="4" name="Image 0" descr="C:/Users/afbar/AppData/Local/Temp/claude/C--Users-afbar-Desktop-Proyecto-deep-learning/5da0d185-be79-45ff-b953-8700da5092ca/scratchpad/slides_img/curva.png">
            <a:extLst>
              <a:ext uri="{FF2B5EF4-FFF2-40B4-BE49-F238E27FC236}">
                <a16:creationId xmlns:a16="http://schemas.microsoft.com/office/drawing/2014/main" id="{4485CFCC-80F8-556D-413F-6036EED18314}"/>
              </a:ext>
            </a:extLst>
          </p:cNvPr>
          <p:cNvPicPr>
            <a:picLocks noChangeAspect="1"/>
          </p:cNvPicPr>
          <p:nvPr/>
        </p:nvPicPr>
        <p:blipFill>
          <a:blip r:embed="rId3"/>
          <a:stretch>
            <a:fillRect/>
          </a:stretch>
        </p:blipFill>
        <p:spPr>
          <a:xfrm>
            <a:off x="5854460" y="1483939"/>
            <a:ext cx="5676401" cy="3890121"/>
          </a:xfrm>
          <a:prstGeom prst="rect">
            <a:avLst/>
          </a:prstGeom>
        </p:spPr>
      </p:pic>
      <p:sp>
        <p:nvSpPr>
          <p:cNvPr id="7" name="TextBox 2">
            <a:extLst>
              <a:ext uri="{FF2B5EF4-FFF2-40B4-BE49-F238E27FC236}">
                <a16:creationId xmlns:a16="http://schemas.microsoft.com/office/drawing/2014/main" id="{71E4F6A2-96E4-37DC-AA7B-2E467D1621B3}"/>
              </a:ext>
            </a:extLst>
          </p:cNvPr>
          <p:cNvSpPr txBox="1"/>
          <p:nvPr/>
        </p:nvSpPr>
        <p:spPr>
          <a:xfrm>
            <a:off x="728662" y="2174743"/>
            <a:ext cx="4982025" cy="566309"/>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0" i="0" u="none" dirty="0">
                <a:solidFill>
                  <a:srgbClr val="002B49"/>
                </a:solidFill>
                <a:latin typeface="Merriweather" panose="00000500000000000000" pitchFamily="2" charset="0"/>
              </a:rPr>
              <a:t>El </a:t>
            </a:r>
            <a:r>
              <a:rPr sz="1500" b="0" i="0" u="none" dirty="0" err="1">
                <a:solidFill>
                  <a:srgbClr val="002B49"/>
                </a:solidFill>
                <a:latin typeface="Merriweather" panose="00000500000000000000" pitchFamily="2" charset="0"/>
              </a:rPr>
              <a:t>orden</a:t>
            </a:r>
            <a:r>
              <a:rPr sz="1500" b="0" i="0" u="none" dirty="0">
                <a:solidFill>
                  <a:srgbClr val="002B49"/>
                </a:solidFill>
                <a:latin typeface="Merriweather" panose="00000500000000000000" pitchFamily="2" charset="0"/>
              </a:rPr>
              <a:t> 2 de scattering </a:t>
            </a:r>
            <a:r>
              <a:rPr sz="1500" b="0" i="0" u="none" dirty="0" err="1">
                <a:solidFill>
                  <a:srgbClr val="002B49"/>
                </a:solidFill>
                <a:latin typeface="Merriweather" panose="00000500000000000000" pitchFamily="2" charset="0"/>
              </a:rPr>
              <a:t>mejora</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consistentemente</a:t>
            </a:r>
            <a:r>
              <a:rPr sz="1500" b="0" i="0" u="none" dirty="0">
                <a:solidFill>
                  <a:srgbClr val="002B49"/>
                </a:solidFill>
                <a:latin typeface="Merriweather" panose="00000500000000000000" pitchFamily="2" charset="0"/>
              </a:rPr>
              <a:t> al </a:t>
            </a:r>
            <a:r>
              <a:rPr sz="1500" b="0" i="0" u="none" dirty="0" err="1">
                <a:solidFill>
                  <a:srgbClr val="002B49"/>
                </a:solidFill>
                <a:latin typeface="Merriweather" panose="00000500000000000000" pitchFamily="2" charset="0"/>
              </a:rPr>
              <a:t>orden</a:t>
            </a:r>
            <a:r>
              <a:rPr sz="1500" b="0" i="0" u="none" dirty="0">
                <a:solidFill>
                  <a:srgbClr val="002B49"/>
                </a:solidFill>
                <a:latin typeface="Merriweather" panose="00000500000000000000" pitchFamily="2" charset="0"/>
              </a:rPr>
              <a:t> 1 (</a:t>
            </a:r>
            <a:r>
              <a:rPr sz="1500" b="0" i="0" u="none" dirty="0" err="1">
                <a:solidFill>
                  <a:srgbClr val="002B49"/>
                </a:solidFill>
                <a:latin typeface="Merriweather" panose="00000500000000000000" pitchFamily="2" charset="0"/>
              </a:rPr>
              <a:t>captura</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interacciones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complejas</a:t>
            </a:r>
            <a:r>
              <a:rPr sz="1500" b="0" i="0" u="none" dirty="0">
                <a:solidFill>
                  <a:srgbClr val="002B49"/>
                </a:solidFill>
                <a:latin typeface="Merriweather" panose="00000500000000000000" pitchFamily="2" charset="0"/>
              </a:rPr>
              <a:t>).</a:t>
            </a:r>
          </a:p>
        </p:txBody>
      </p:sp>
      <p:sp>
        <p:nvSpPr>
          <p:cNvPr id="9" name="TextBox 3">
            <a:extLst>
              <a:ext uri="{FF2B5EF4-FFF2-40B4-BE49-F238E27FC236}">
                <a16:creationId xmlns:a16="http://schemas.microsoft.com/office/drawing/2014/main" id="{A4777D91-44B1-C7A7-BD9D-EA76185F48E7}"/>
              </a:ext>
            </a:extLst>
          </p:cNvPr>
          <p:cNvSpPr txBox="1"/>
          <p:nvPr/>
        </p:nvSpPr>
        <p:spPr>
          <a:xfrm>
            <a:off x="728662" y="2995964"/>
            <a:ext cx="4982025" cy="866071"/>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0" i="0" u="none" dirty="0">
                <a:solidFill>
                  <a:srgbClr val="002B49"/>
                </a:solidFill>
                <a:latin typeface="Merriweather" panose="00000500000000000000" pitchFamily="2" charset="0"/>
              </a:rPr>
              <a:t>El scattering </a:t>
            </a:r>
            <a:r>
              <a:rPr sz="1500" b="0" i="0" u="none" dirty="0" err="1">
                <a:solidFill>
                  <a:srgbClr val="002B49"/>
                </a:solidFill>
                <a:latin typeface="Merriweather" panose="00000500000000000000" pitchFamily="2" charset="0"/>
              </a:rPr>
              <a:t>aventaja</a:t>
            </a:r>
            <a:r>
              <a:rPr sz="1500" b="0" i="0" u="none" dirty="0">
                <a:solidFill>
                  <a:srgbClr val="002B49"/>
                </a:solidFill>
                <a:latin typeface="Merriweather" panose="00000500000000000000" pitchFamily="2" charset="0"/>
              </a:rPr>
              <a:t> a la CNN de forma </a:t>
            </a:r>
            <a:r>
              <a:rPr sz="1500" b="0" i="0" u="none" dirty="0" err="1">
                <a:solidFill>
                  <a:srgbClr val="002B49"/>
                </a:solidFill>
                <a:latin typeface="Merriweather" panose="00000500000000000000" pitchFamily="2" charset="0"/>
              </a:rPr>
              <a:t>concluyente</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únicamente</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en</a:t>
            </a:r>
            <a:r>
              <a:rPr sz="1500" b="0" i="0" u="none" dirty="0">
                <a:solidFill>
                  <a:srgbClr val="002B49"/>
                </a:solidFill>
                <a:latin typeface="Merriweather" panose="00000500000000000000" pitchFamily="2" charset="0"/>
              </a:rPr>
              <a:t> la </a:t>
            </a:r>
            <a:r>
              <a:rPr sz="1500" b="0" i="0" u="none" dirty="0" err="1">
                <a:solidFill>
                  <a:srgbClr val="002B49"/>
                </a:solidFill>
                <a:latin typeface="Merriweather" panose="00000500000000000000" pitchFamily="2" charset="0"/>
              </a:rPr>
              <a:t>ventana</a:t>
            </a:r>
            <a:r>
              <a:rPr sz="1500" b="0" i="0" u="none" dirty="0">
                <a:solidFill>
                  <a:srgbClr val="002B49"/>
                </a:solidFill>
                <a:latin typeface="Merriweather" panose="00000500000000000000" pitchFamily="2" charset="0"/>
              </a:rPr>
              <a:t> entre </a:t>
            </a:r>
            <a:r>
              <a:rPr sz="1500" b="0" i="1" u="none" dirty="0">
                <a:solidFill>
                  <a:srgbClr val="002B49"/>
                </a:solidFill>
                <a:latin typeface="Merriweather" panose="00000500000000000000" pitchFamily="2" charset="0"/>
              </a:rPr>
              <a:t>n=1000</a:t>
            </a:r>
            <a:r>
              <a:rPr sz="1500" b="0" i="0" u="none" dirty="0">
                <a:solidFill>
                  <a:srgbClr val="002B49"/>
                </a:solidFill>
                <a:latin typeface="Merriweather" panose="00000500000000000000" pitchFamily="2" charset="0"/>
              </a:rPr>
              <a:t> y </a:t>
            </a:r>
            <a:r>
              <a:rPr sz="1500" b="0" i="1" u="none" dirty="0">
                <a:solidFill>
                  <a:srgbClr val="002B49"/>
                </a:solidFill>
                <a:latin typeface="Merriweather" panose="00000500000000000000" pitchFamily="2" charset="0"/>
              </a:rPr>
              <a:t>n=2000</a:t>
            </a:r>
            <a:r>
              <a:rPr sz="1500" b="0" i="0" u="none" dirty="0">
                <a:solidFill>
                  <a:srgbClr val="002B49"/>
                </a:solidFill>
                <a:latin typeface="Merriweather" panose="00000500000000000000" pitchFamily="2" charset="0"/>
              </a:rPr>
              <a:t>.</a:t>
            </a:r>
          </a:p>
        </p:txBody>
      </p:sp>
      <p:sp>
        <p:nvSpPr>
          <p:cNvPr id="11" name="TextBox 4">
            <a:extLst>
              <a:ext uri="{FF2B5EF4-FFF2-40B4-BE49-F238E27FC236}">
                <a16:creationId xmlns:a16="http://schemas.microsoft.com/office/drawing/2014/main" id="{1351378E-024B-20D3-8853-3F4799A5DC1F}"/>
              </a:ext>
            </a:extLst>
          </p:cNvPr>
          <p:cNvSpPr txBox="1"/>
          <p:nvPr/>
        </p:nvSpPr>
        <p:spPr>
          <a:xfrm>
            <a:off x="728662" y="4112138"/>
            <a:ext cx="4982025" cy="571500"/>
          </a:xfrm>
          <a:prstGeom prst="rect">
            <a:avLst/>
          </a:prstGeom>
          <a:noFill/>
        </p:spPr>
        <p:txBody>
          <a:bodyPr wrap="square" lIns="0" tIns="0" rIns="0" bIns="0" anchor="t">
            <a:spAutoFit/>
          </a:bodyPr>
          <a:lstStyle/>
          <a:p>
            <a:pPr marL="285750" indent="-285750" algn="l">
              <a:lnSpc>
                <a:spcPts val="2250"/>
              </a:lnSpc>
              <a:buFont typeface="Arial" panose="020B0604020202020204" pitchFamily="34" charset="0"/>
              <a:buChar char="•"/>
            </a:pPr>
            <a:r>
              <a:rPr sz="1500" b="0" i="0" u="none" dirty="0">
                <a:solidFill>
                  <a:srgbClr val="002B49"/>
                </a:solidFill>
                <a:latin typeface="Merriweather" panose="00000500000000000000" pitchFamily="2" charset="0"/>
              </a:rPr>
              <a:t>Al </a:t>
            </a:r>
            <a:r>
              <a:rPr sz="1500" b="0" i="0" u="none" dirty="0" err="1">
                <a:solidFill>
                  <a:srgbClr val="002B49"/>
                </a:solidFill>
                <a:latin typeface="Merriweather" panose="00000500000000000000" pitchFamily="2" charset="0"/>
              </a:rPr>
              <a:t>abundar</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los</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datos</a:t>
            </a:r>
            <a:r>
              <a:rPr sz="1500" b="0" i="0" u="none" dirty="0">
                <a:solidFill>
                  <a:srgbClr val="002B49"/>
                </a:solidFill>
                <a:latin typeface="Merriweather" panose="00000500000000000000" pitchFamily="2" charset="0"/>
              </a:rPr>
              <a:t> (</a:t>
            </a:r>
            <a:r>
              <a:rPr sz="1500" b="0" i="1" u="none" dirty="0">
                <a:solidFill>
                  <a:srgbClr val="002B49"/>
                </a:solidFill>
                <a:latin typeface="Merriweather" panose="00000500000000000000" pitchFamily="2" charset="0"/>
              </a:rPr>
              <a:t>n ≥ 5000</a:t>
            </a:r>
            <a:r>
              <a:rPr sz="1500" b="0" i="0" u="none" dirty="0">
                <a:solidFill>
                  <a:srgbClr val="002B49"/>
                </a:solidFill>
                <a:latin typeface="Merriweather" panose="00000500000000000000" pitchFamily="2" charset="0"/>
              </a:rPr>
              <a:t>), la </a:t>
            </a:r>
            <a:r>
              <a:rPr sz="1500" b="0" i="0" u="none" dirty="0" err="1">
                <a:solidFill>
                  <a:srgbClr val="002B49"/>
                </a:solidFill>
                <a:latin typeface="Merriweather" panose="00000500000000000000" pitchFamily="2" charset="0"/>
              </a:rPr>
              <a:t>ventaja</a:t>
            </a:r>
            <a:r>
              <a:rPr sz="1500" b="0" i="0" u="none" dirty="0">
                <a:solidFill>
                  <a:srgbClr val="002B49"/>
                </a:solidFill>
                <a:latin typeface="Merriweather" panose="00000500000000000000" pitchFamily="2" charset="0"/>
              </a:rPr>
              <a:t> </a:t>
            </a:r>
            <a:r>
              <a:rPr lang="en-US" sz="1500" b="0" i="0" u="none" dirty="0" err="1">
                <a:solidFill>
                  <a:srgbClr val="002B49"/>
                </a:solidFill>
                <a:latin typeface="Merriweather" panose="00000500000000000000" pitchFamily="2" charset="0"/>
              </a:rPr>
              <a:t>parece</a:t>
            </a:r>
            <a:r>
              <a:rPr lang="en-US"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desapare</a:t>
            </a:r>
            <a:r>
              <a:rPr lang="en-US" sz="1500" b="0" i="0" u="none" dirty="0" err="1">
                <a:solidFill>
                  <a:srgbClr val="002B49"/>
                </a:solidFill>
                <a:latin typeface="Merriweather" panose="00000500000000000000" pitchFamily="2" charset="0"/>
              </a:rPr>
              <a:t>cer</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como</a:t>
            </a:r>
            <a:r>
              <a:rPr sz="1500" b="0" i="0" u="none" dirty="0">
                <a:solidFill>
                  <a:srgbClr val="002B49"/>
                </a:solidFill>
                <a:latin typeface="Merriweather" panose="00000500000000000000" pitchFamily="2" charset="0"/>
              </a:rPr>
              <a:t> </a:t>
            </a:r>
            <a:r>
              <a:rPr sz="1500" b="0" i="0" u="none" dirty="0" err="1">
                <a:solidFill>
                  <a:srgbClr val="002B49"/>
                </a:solidFill>
                <a:latin typeface="Merriweather" panose="00000500000000000000" pitchFamily="2" charset="0"/>
              </a:rPr>
              <a:t>predice</a:t>
            </a:r>
            <a:r>
              <a:rPr sz="1500" b="0" i="0" u="none" dirty="0">
                <a:solidFill>
                  <a:srgbClr val="002B49"/>
                </a:solidFill>
                <a:latin typeface="Merriweather" panose="00000500000000000000" pitchFamily="2" charset="0"/>
              </a:rPr>
              <a:t> la </a:t>
            </a:r>
            <a:r>
              <a:rPr sz="1500" b="0" i="0" u="none" dirty="0" err="1">
                <a:solidFill>
                  <a:srgbClr val="002B49"/>
                </a:solidFill>
                <a:latin typeface="Merriweather" panose="00000500000000000000" pitchFamily="2" charset="0"/>
              </a:rPr>
              <a:t>teoría</a:t>
            </a:r>
            <a:r>
              <a:rPr sz="1500" b="0" i="0" u="none" dirty="0">
                <a:solidFill>
                  <a:srgbClr val="002B49"/>
                </a:solidFill>
                <a:latin typeface="Merriweather" panose="00000500000000000000" pitchFamily="2" charset="0"/>
              </a:rPr>
              <a:t>.</a:t>
            </a:r>
          </a:p>
        </p:txBody>
      </p:sp>
    </p:spTree>
    <p:extLst>
      <p:ext uri="{BB962C8B-B14F-4D97-AF65-F5344CB8AC3E}">
        <p14:creationId xmlns:p14="http://schemas.microsoft.com/office/powerpoint/2010/main" val="1863124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A72618-DAAD-40BC-C99D-047F67A11F6A}"/>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1E12E7B8-540A-D4B2-FB9F-F16AAF7CB2E9}"/>
              </a:ext>
            </a:extLst>
          </p:cNvPr>
          <p:cNvSpPr txBox="1"/>
          <p:nvPr/>
        </p:nvSpPr>
        <p:spPr>
          <a:xfrm>
            <a:off x="395287" y="562514"/>
            <a:ext cx="11401425" cy="553998"/>
          </a:xfrm>
          <a:prstGeom prst="rect">
            <a:avLst/>
          </a:prstGeom>
          <a:noFill/>
        </p:spPr>
        <p:txBody>
          <a:bodyPr wrap="square" lIns="0" tIns="0" rIns="0" bIns="0" anchor="t">
            <a:spAutoFit/>
          </a:bodyPr>
          <a:lstStyle/>
          <a:p>
            <a:pPr algn="ctr"/>
            <a:r>
              <a:rPr lang="es-ES" sz="3600" b="1" dirty="0">
                <a:solidFill>
                  <a:srgbClr val="002B49"/>
                </a:solidFill>
                <a:latin typeface="Merriweather"/>
              </a:rPr>
              <a:t>Caso</a:t>
            </a:r>
            <a:r>
              <a:rPr lang="es-ES" sz="3450" b="1" dirty="0">
                <a:solidFill>
                  <a:srgbClr val="002B49"/>
                </a:solidFill>
                <a:latin typeface="Merriweather"/>
              </a:rPr>
              <a:t> n=300</a:t>
            </a:r>
          </a:p>
        </p:txBody>
      </p:sp>
      <p:pic>
        <p:nvPicPr>
          <p:cNvPr id="3" name="Imagen 2">
            <a:extLst>
              <a:ext uri="{FF2B5EF4-FFF2-40B4-BE49-F238E27FC236}">
                <a16:creationId xmlns:a16="http://schemas.microsoft.com/office/drawing/2014/main" id="{B79672E6-9B82-125F-4D55-B6AF33EED047}"/>
              </a:ext>
            </a:extLst>
          </p:cNvPr>
          <p:cNvPicPr>
            <a:picLocks noChangeAspect="1"/>
          </p:cNvPicPr>
          <p:nvPr/>
        </p:nvPicPr>
        <p:blipFill>
          <a:blip r:embed="rId3"/>
          <a:srcRect r="48646"/>
          <a:stretch>
            <a:fillRect/>
          </a:stretch>
        </p:blipFill>
        <p:spPr>
          <a:xfrm>
            <a:off x="6076423" y="2056806"/>
            <a:ext cx="5720289" cy="2744387"/>
          </a:xfrm>
          <a:prstGeom prst="rect">
            <a:avLst/>
          </a:prstGeom>
        </p:spPr>
      </p:pic>
      <p:sp>
        <p:nvSpPr>
          <p:cNvPr id="8" name="TextBox 4">
            <a:extLst>
              <a:ext uri="{FF2B5EF4-FFF2-40B4-BE49-F238E27FC236}">
                <a16:creationId xmlns:a16="http://schemas.microsoft.com/office/drawing/2014/main" id="{0B756A72-0B88-A8C3-ACE9-04694B88EC3C}"/>
              </a:ext>
            </a:extLst>
          </p:cNvPr>
          <p:cNvSpPr txBox="1"/>
          <p:nvPr/>
        </p:nvSpPr>
        <p:spPr>
          <a:xfrm>
            <a:off x="602052" y="2410852"/>
            <a:ext cx="5143500" cy="1161023"/>
          </a:xfrm>
          <a:prstGeom prst="rect">
            <a:avLst/>
          </a:prstGeom>
          <a:noFill/>
        </p:spPr>
        <p:txBody>
          <a:bodyPr wrap="square" lIns="0" tIns="0" rIns="0" bIns="0" anchor="t">
            <a:spAutoFit/>
          </a:bodyPr>
          <a:lstStyle/>
          <a:p>
            <a:pPr algn="l">
              <a:lnSpc>
                <a:spcPts val="2250"/>
              </a:lnSpc>
            </a:pPr>
            <a:r>
              <a:rPr sz="1500" b="0" i="0" u="none" dirty="0">
                <a:latin typeface="Merriweather" panose="00000500000000000000" pitchFamily="2" charset="0"/>
              </a:rPr>
              <a:t>En el extremo </a:t>
            </a:r>
            <a:r>
              <a:rPr sz="1500" b="0" i="0" u="none" dirty="0" err="1">
                <a:latin typeface="Merriweather" panose="00000500000000000000" pitchFamily="2" charset="0"/>
              </a:rPr>
              <a:t>donde</a:t>
            </a:r>
            <a:r>
              <a:rPr sz="1500" b="0" i="0" u="none" dirty="0">
                <a:latin typeface="Merriweather" panose="00000500000000000000" pitchFamily="2" charset="0"/>
              </a:rPr>
              <a:t> la </a:t>
            </a:r>
            <a:r>
              <a:rPr sz="1500" b="0" i="0" u="none" dirty="0" err="1">
                <a:latin typeface="Merriweather" panose="00000500000000000000" pitchFamily="2" charset="0"/>
              </a:rPr>
              <a:t>ventaja</a:t>
            </a:r>
            <a:r>
              <a:rPr sz="1500" b="0" i="0" u="none" dirty="0">
                <a:latin typeface="Merriweather" panose="00000500000000000000" pitchFamily="2" charset="0"/>
              </a:rPr>
              <a:t> del scattering sin </a:t>
            </a:r>
            <a:r>
              <a:rPr sz="1500" b="0" i="0" u="none" dirty="0" err="1">
                <a:latin typeface="Merriweather" panose="00000500000000000000" pitchFamily="2" charset="0"/>
              </a:rPr>
              <a:t>aprendizaje</a:t>
            </a:r>
            <a:r>
              <a:rPr sz="1500" b="0" i="0" u="none" dirty="0">
                <a:latin typeface="Merriweather" panose="00000500000000000000" pitchFamily="2" charset="0"/>
              </a:rPr>
              <a:t> </a:t>
            </a:r>
            <a:r>
              <a:rPr sz="1500" b="0" i="0" u="none" dirty="0" err="1">
                <a:latin typeface="Merriweather" panose="00000500000000000000" pitchFamily="2" charset="0"/>
              </a:rPr>
              <a:t>debería</a:t>
            </a:r>
            <a:r>
              <a:rPr sz="1500" b="0" i="0" u="none" dirty="0">
                <a:latin typeface="Merriweather" panose="00000500000000000000" pitchFamily="2" charset="0"/>
              </a:rPr>
              <a:t> ser </a:t>
            </a:r>
            <a:r>
              <a:rPr sz="1500" b="0" i="0" u="none" dirty="0" err="1">
                <a:latin typeface="Merriweather" panose="00000500000000000000" pitchFamily="2" charset="0"/>
              </a:rPr>
              <a:t>máxima</a:t>
            </a:r>
            <a:r>
              <a:rPr sz="1500" b="0" i="0" u="none" dirty="0">
                <a:latin typeface="Merriweather" panose="00000500000000000000" pitchFamily="2" charset="0"/>
              </a:rPr>
              <a:t> (</a:t>
            </a:r>
            <a:r>
              <a:rPr sz="1500" b="0" i="1" u="none" dirty="0">
                <a:latin typeface="Merriweather" panose="00000500000000000000" pitchFamily="2" charset="0"/>
              </a:rPr>
              <a:t>n=300</a:t>
            </a:r>
            <a:r>
              <a:rPr sz="1500" b="0" i="0" u="none" dirty="0">
                <a:latin typeface="Merriweather" panose="00000500000000000000" pitchFamily="2" charset="0"/>
              </a:rPr>
              <a:t>), </a:t>
            </a:r>
            <a:r>
              <a:rPr sz="1500" b="0" i="0" u="none" dirty="0" err="1">
                <a:latin typeface="Merriweather" panose="00000500000000000000" pitchFamily="2" charset="0"/>
              </a:rPr>
              <a:t>los</a:t>
            </a:r>
            <a:r>
              <a:rPr sz="1500" b="0" i="0" u="none" dirty="0">
                <a:latin typeface="Merriweather" panose="00000500000000000000" pitchFamily="2" charset="0"/>
              </a:rPr>
              <a:t> </a:t>
            </a:r>
            <a:r>
              <a:rPr sz="1500" b="0" i="0" u="none" dirty="0" err="1">
                <a:latin typeface="Merriweather" panose="00000500000000000000" pitchFamily="2" charset="0"/>
              </a:rPr>
              <a:t>promedios</a:t>
            </a:r>
            <a:r>
              <a:rPr sz="1500" b="0" i="0" u="none" dirty="0">
                <a:latin typeface="Merriweather" panose="00000500000000000000" pitchFamily="2" charset="0"/>
              </a:rPr>
              <a:t> de error entre la CNN (4.17%) y el Scattering (4.21%) son </a:t>
            </a:r>
            <a:r>
              <a:rPr sz="1500" b="0" i="0" u="none" dirty="0" err="1">
                <a:latin typeface="Merriweather" panose="00000500000000000000" pitchFamily="2" charset="0"/>
              </a:rPr>
              <a:t>estadísticamente</a:t>
            </a:r>
            <a:r>
              <a:rPr sz="1500" b="0" i="0" u="none" dirty="0">
                <a:latin typeface="Merriweather" panose="00000500000000000000" pitchFamily="2" charset="0"/>
              </a:rPr>
              <a:t> </a:t>
            </a:r>
            <a:r>
              <a:rPr sz="1500" b="0" i="0" u="none" dirty="0" err="1">
                <a:latin typeface="Merriweather" panose="00000500000000000000" pitchFamily="2" charset="0"/>
              </a:rPr>
              <a:t>indistinguibles</a:t>
            </a:r>
            <a:r>
              <a:rPr sz="1500" b="0" i="0" u="none" dirty="0">
                <a:latin typeface="Merriweather" panose="00000500000000000000" pitchFamily="2" charset="0"/>
              </a:rPr>
              <a:t>.</a:t>
            </a:r>
          </a:p>
        </p:txBody>
      </p:sp>
      <p:sp>
        <p:nvSpPr>
          <p:cNvPr id="12" name="TextBox 5">
            <a:extLst>
              <a:ext uri="{FF2B5EF4-FFF2-40B4-BE49-F238E27FC236}">
                <a16:creationId xmlns:a16="http://schemas.microsoft.com/office/drawing/2014/main" id="{5A38A24B-4E62-D5AC-920D-0C7C9E1164C4}"/>
              </a:ext>
            </a:extLst>
          </p:cNvPr>
          <p:cNvSpPr txBox="1"/>
          <p:nvPr/>
        </p:nvSpPr>
        <p:spPr>
          <a:xfrm>
            <a:off x="602052" y="3696727"/>
            <a:ext cx="5143500" cy="866071"/>
          </a:xfrm>
          <a:prstGeom prst="rect">
            <a:avLst/>
          </a:prstGeom>
          <a:noFill/>
        </p:spPr>
        <p:txBody>
          <a:bodyPr wrap="square" lIns="0" tIns="0" rIns="0" bIns="0" anchor="t">
            <a:spAutoFit/>
          </a:bodyPr>
          <a:lstStyle/>
          <a:p>
            <a:pPr algn="l">
              <a:lnSpc>
                <a:spcPts val="2250"/>
              </a:lnSpc>
            </a:pPr>
            <a:r>
              <a:rPr sz="1500" b="0" i="0" u="none" dirty="0" err="1">
                <a:latin typeface="Merriweather" panose="00000500000000000000" pitchFamily="2" charset="0"/>
              </a:rPr>
              <a:t>Aún</a:t>
            </a:r>
            <a:r>
              <a:rPr sz="1500" b="0" i="0" u="none" dirty="0">
                <a:latin typeface="Merriweather" panose="00000500000000000000" pitchFamily="2" charset="0"/>
              </a:rPr>
              <a:t> </a:t>
            </a:r>
            <a:r>
              <a:rPr sz="1500" b="0" i="0" u="none" dirty="0" err="1">
                <a:latin typeface="Merriweather" panose="00000500000000000000" pitchFamily="2" charset="0"/>
              </a:rPr>
              <a:t>más</a:t>
            </a:r>
            <a:r>
              <a:rPr sz="1500" b="0" i="0" u="none" dirty="0">
                <a:latin typeface="Merriweather" panose="00000500000000000000" pitchFamily="2" charset="0"/>
              </a:rPr>
              <a:t> </a:t>
            </a:r>
            <a:r>
              <a:rPr sz="1500" b="0" i="0" u="none" dirty="0" err="1">
                <a:latin typeface="Merriweather" panose="00000500000000000000" pitchFamily="2" charset="0"/>
              </a:rPr>
              <a:t>importante</a:t>
            </a:r>
            <a:r>
              <a:rPr lang="en-US" sz="1500" dirty="0">
                <a:latin typeface="Merriweather" panose="00000500000000000000" pitchFamily="2" charset="0"/>
              </a:rPr>
              <a:t>,</a:t>
            </a:r>
            <a:r>
              <a:rPr sz="1500" b="0" i="0" u="none" dirty="0">
                <a:latin typeface="Merriweather" panose="00000500000000000000" pitchFamily="2" charset="0"/>
              </a:rPr>
              <a:t> la </a:t>
            </a:r>
            <a:r>
              <a:rPr sz="1500" b="0" i="0" u="none" dirty="0" err="1">
                <a:latin typeface="Merriweather" panose="00000500000000000000" pitchFamily="2" charset="0"/>
              </a:rPr>
              <a:t>dispersión</a:t>
            </a:r>
            <a:r>
              <a:rPr sz="1500" b="0" i="0" u="none" dirty="0">
                <a:latin typeface="Merriweather" panose="00000500000000000000" pitchFamily="2" charset="0"/>
              </a:rPr>
              <a:t> del </a:t>
            </a:r>
            <a:r>
              <a:rPr sz="1500" b="0" i="0" u="none" dirty="0" err="1">
                <a:latin typeface="Merriweather" panose="00000500000000000000" pitchFamily="2" charset="0"/>
              </a:rPr>
              <a:t>modelo</a:t>
            </a:r>
            <a:r>
              <a:rPr sz="1500" b="0" i="0" u="none" dirty="0">
                <a:latin typeface="Merriweather" panose="00000500000000000000" pitchFamily="2" charset="0"/>
              </a:rPr>
              <a:t> de scattering (±0.61) </a:t>
            </a:r>
            <a:r>
              <a:rPr sz="1500" b="0" i="0" u="none" dirty="0" err="1">
                <a:latin typeface="Merriweather" panose="00000500000000000000" pitchFamily="2" charset="0"/>
              </a:rPr>
              <a:t>cuadruplica</a:t>
            </a:r>
            <a:r>
              <a:rPr sz="1500" b="0" i="0" u="none" dirty="0">
                <a:latin typeface="Merriweather" panose="00000500000000000000" pitchFamily="2" charset="0"/>
              </a:rPr>
              <a:t> la de la red neuronal </a:t>
            </a:r>
            <a:r>
              <a:rPr sz="1500" b="0" i="0" u="none" dirty="0" err="1">
                <a:latin typeface="Merriweather" panose="00000500000000000000" pitchFamily="2" charset="0"/>
              </a:rPr>
              <a:t>convolucional</a:t>
            </a:r>
            <a:r>
              <a:rPr sz="1500" b="0" i="0" u="none" dirty="0">
                <a:latin typeface="Merriweather" panose="00000500000000000000" pitchFamily="2" charset="0"/>
              </a:rPr>
              <a:t> (±0.14), </a:t>
            </a:r>
            <a:r>
              <a:rPr sz="1500" b="0" i="0" u="none" dirty="0" err="1">
                <a:latin typeface="Merriweather" panose="00000500000000000000" pitchFamily="2" charset="0"/>
              </a:rPr>
              <a:t>haciéndolo</a:t>
            </a:r>
            <a:r>
              <a:rPr sz="1500" b="0" i="0" u="none" dirty="0">
                <a:latin typeface="Merriweather" panose="00000500000000000000" pitchFamily="2" charset="0"/>
              </a:rPr>
              <a:t> </a:t>
            </a:r>
            <a:r>
              <a:rPr sz="1500" b="0" i="0" u="none" dirty="0" err="1">
                <a:latin typeface="Merriweather" panose="00000500000000000000" pitchFamily="2" charset="0"/>
              </a:rPr>
              <a:t>menos</a:t>
            </a:r>
            <a:r>
              <a:rPr sz="1500" b="0" i="0" u="none" dirty="0">
                <a:latin typeface="Merriweather" panose="00000500000000000000" pitchFamily="2" charset="0"/>
              </a:rPr>
              <a:t> </a:t>
            </a:r>
            <a:r>
              <a:rPr sz="1500" b="0" i="0" u="none" dirty="0" err="1">
                <a:latin typeface="Merriweather" panose="00000500000000000000" pitchFamily="2" charset="0"/>
              </a:rPr>
              <a:t>confiable</a:t>
            </a:r>
            <a:r>
              <a:rPr sz="1500" b="0" i="0" u="none" dirty="0">
                <a:latin typeface="Merriweather" panose="00000500000000000000" pitchFamily="2" charset="0"/>
              </a:rPr>
              <a:t>.</a:t>
            </a:r>
          </a:p>
        </p:txBody>
      </p:sp>
    </p:spTree>
    <p:extLst>
      <p:ext uri="{BB962C8B-B14F-4D97-AF65-F5344CB8AC3E}">
        <p14:creationId xmlns:p14="http://schemas.microsoft.com/office/powerpoint/2010/main" val="327288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CBFE93-E500-3788-1C62-9400EBBC9F2D}"/>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85F8BD90-7DC2-7315-88A2-4983782E40B4}"/>
              </a:ext>
            </a:extLst>
          </p:cNvPr>
          <p:cNvSpPr txBox="1"/>
          <p:nvPr/>
        </p:nvSpPr>
        <p:spPr>
          <a:xfrm>
            <a:off x="395287" y="562514"/>
            <a:ext cx="11401425" cy="553998"/>
          </a:xfrm>
          <a:prstGeom prst="rect">
            <a:avLst/>
          </a:prstGeom>
          <a:noFill/>
        </p:spPr>
        <p:txBody>
          <a:bodyPr wrap="square" lIns="0" tIns="0" rIns="0" bIns="0" anchor="t">
            <a:spAutoFit/>
          </a:bodyPr>
          <a:lstStyle/>
          <a:p>
            <a:pPr algn="ctr"/>
            <a:r>
              <a:rPr lang="es-ES" sz="3600" b="1" dirty="0">
                <a:solidFill>
                  <a:srgbClr val="002B49"/>
                </a:solidFill>
                <a:latin typeface="Merriweather"/>
              </a:rPr>
              <a:t>¿Por qué se redujo la brecha?</a:t>
            </a:r>
          </a:p>
        </p:txBody>
      </p:sp>
      <p:sp>
        <p:nvSpPr>
          <p:cNvPr id="10" name="TextBox 3">
            <a:extLst>
              <a:ext uri="{FF2B5EF4-FFF2-40B4-BE49-F238E27FC236}">
                <a16:creationId xmlns:a16="http://schemas.microsoft.com/office/drawing/2014/main" id="{FDA14ED6-2496-B16A-B685-1F89F43E25BD}"/>
              </a:ext>
            </a:extLst>
          </p:cNvPr>
          <p:cNvSpPr txBox="1"/>
          <p:nvPr/>
        </p:nvSpPr>
        <p:spPr>
          <a:xfrm>
            <a:off x="1870948" y="2851210"/>
            <a:ext cx="2830353" cy="300082"/>
          </a:xfrm>
          <a:prstGeom prst="rect">
            <a:avLst/>
          </a:prstGeom>
          <a:noFill/>
        </p:spPr>
        <p:txBody>
          <a:bodyPr wrap="square" lIns="0" tIns="0" rIns="0" bIns="0" anchor="t">
            <a:spAutoFit/>
          </a:bodyPr>
          <a:lstStyle/>
          <a:p>
            <a:pPr algn="ctr"/>
            <a:r>
              <a:rPr sz="1950" b="1" i="0" u="none" dirty="0" err="1">
                <a:solidFill>
                  <a:schemeClr val="tx1">
                    <a:lumMod val="75000"/>
                    <a:lumOff val="25000"/>
                  </a:schemeClr>
                </a:solidFill>
                <a:latin typeface="Merriweather" panose="00000500000000000000" pitchFamily="2" charset="0"/>
              </a:rPr>
              <a:t>Evolución</a:t>
            </a:r>
            <a:r>
              <a:rPr sz="1950" b="1" i="0" u="none" dirty="0">
                <a:solidFill>
                  <a:schemeClr val="tx1">
                    <a:lumMod val="75000"/>
                    <a:lumOff val="25000"/>
                  </a:schemeClr>
                </a:solidFill>
                <a:latin typeface="Merriweather" panose="00000500000000000000" pitchFamily="2" charset="0"/>
              </a:rPr>
              <a:t> de las CNNs</a:t>
            </a:r>
          </a:p>
        </p:txBody>
      </p:sp>
      <p:sp>
        <p:nvSpPr>
          <p:cNvPr id="13" name="TextBox 4">
            <a:extLst>
              <a:ext uri="{FF2B5EF4-FFF2-40B4-BE49-F238E27FC236}">
                <a16:creationId xmlns:a16="http://schemas.microsoft.com/office/drawing/2014/main" id="{E36C41C7-4A96-79D6-C150-D1B3EC25C351}"/>
              </a:ext>
            </a:extLst>
          </p:cNvPr>
          <p:cNvSpPr txBox="1"/>
          <p:nvPr/>
        </p:nvSpPr>
        <p:spPr>
          <a:xfrm>
            <a:off x="952500" y="3356035"/>
            <a:ext cx="4667250" cy="1028700"/>
          </a:xfrm>
          <a:prstGeom prst="rect">
            <a:avLst/>
          </a:prstGeom>
          <a:noFill/>
        </p:spPr>
        <p:txBody>
          <a:bodyPr wrap="square" lIns="0" tIns="0" rIns="0" bIns="0" anchor="t">
            <a:spAutoFit/>
          </a:bodyPr>
          <a:lstStyle/>
          <a:p>
            <a:pPr algn="ctr">
              <a:lnSpc>
                <a:spcPts val="2025"/>
              </a:lnSpc>
            </a:pPr>
            <a:r>
              <a:rPr sz="1350" b="0" i="0" u="none">
                <a:solidFill>
                  <a:schemeClr val="tx1">
                    <a:lumMod val="75000"/>
                    <a:lumOff val="25000"/>
                  </a:schemeClr>
                </a:solidFill>
                <a:latin typeface="Merriweather" panose="00000500000000000000" pitchFamily="2" charset="0"/>
              </a:rPr>
              <a:t>Mejoras modernas como Batch Normalization, Weight Decay y la reducción del ritmo de aprendizaje actúan como potentes regularizadores, salvando a las redes del sobreajuste que sufrían en 2013 con pocos datos.</a:t>
            </a:r>
          </a:p>
        </p:txBody>
      </p:sp>
      <p:sp>
        <p:nvSpPr>
          <p:cNvPr id="15" name="TextBox 5">
            <a:extLst>
              <a:ext uri="{FF2B5EF4-FFF2-40B4-BE49-F238E27FC236}">
                <a16:creationId xmlns:a16="http://schemas.microsoft.com/office/drawing/2014/main" id="{85985F86-351B-7ECE-E0D8-89DEA5C19BBA}"/>
              </a:ext>
            </a:extLst>
          </p:cNvPr>
          <p:cNvSpPr txBox="1"/>
          <p:nvPr/>
        </p:nvSpPr>
        <p:spPr>
          <a:xfrm>
            <a:off x="6960631" y="2851210"/>
            <a:ext cx="3890486" cy="300082"/>
          </a:xfrm>
          <a:prstGeom prst="rect">
            <a:avLst/>
          </a:prstGeom>
          <a:noFill/>
        </p:spPr>
        <p:txBody>
          <a:bodyPr wrap="square" lIns="0" tIns="0" rIns="0" bIns="0" anchor="t">
            <a:spAutoFit/>
          </a:bodyPr>
          <a:lstStyle/>
          <a:p>
            <a:pPr algn="ctr"/>
            <a:r>
              <a:rPr lang="en-US" sz="1950" b="1" dirty="0">
                <a:solidFill>
                  <a:schemeClr val="tx1">
                    <a:lumMod val="75000"/>
                    <a:lumOff val="25000"/>
                  </a:schemeClr>
                </a:solidFill>
                <a:latin typeface="Merriweather" panose="00000500000000000000" pitchFamily="2" charset="0"/>
              </a:rPr>
              <a:t>El </a:t>
            </a:r>
            <a:r>
              <a:rPr lang="en-US" sz="1950" b="1" dirty="0" err="1">
                <a:solidFill>
                  <a:schemeClr val="tx1">
                    <a:lumMod val="75000"/>
                    <a:lumOff val="25000"/>
                  </a:schemeClr>
                </a:solidFill>
                <a:latin typeface="Merriweather" panose="00000500000000000000" pitchFamily="2" charset="0"/>
              </a:rPr>
              <a:t>conteo</a:t>
            </a:r>
            <a:r>
              <a:rPr lang="en-US" sz="1950" b="1" dirty="0">
                <a:solidFill>
                  <a:schemeClr val="tx1">
                    <a:lumMod val="75000"/>
                    <a:lumOff val="25000"/>
                  </a:schemeClr>
                </a:solidFill>
                <a:latin typeface="Merriweather" panose="00000500000000000000" pitchFamily="2" charset="0"/>
              </a:rPr>
              <a:t> de</a:t>
            </a:r>
            <a:r>
              <a:rPr sz="1950" b="1" i="0" u="none" dirty="0">
                <a:solidFill>
                  <a:schemeClr val="tx1">
                    <a:lumMod val="75000"/>
                    <a:lumOff val="25000"/>
                  </a:schemeClr>
                </a:solidFill>
                <a:latin typeface="Merriweather" panose="00000500000000000000" pitchFamily="2" charset="0"/>
              </a:rPr>
              <a:t> </a:t>
            </a:r>
            <a:r>
              <a:rPr lang="en-US" sz="1950" b="1" dirty="0" err="1">
                <a:solidFill>
                  <a:schemeClr val="tx1">
                    <a:lumMod val="75000"/>
                    <a:lumOff val="25000"/>
                  </a:schemeClr>
                </a:solidFill>
                <a:latin typeface="Merriweather" panose="00000500000000000000" pitchFamily="2" charset="0"/>
              </a:rPr>
              <a:t>p</a:t>
            </a:r>
            <a:r>
              <a:rPr sz="1950" b="1" i="0" u="none" dirty="0" err="1">
                <a:solidFill>
                  <a:schemeClr val="tx1">
                    <a:lumMod val="75000"/>
                    <a:lumOff val="25000"/>
                  </a:schemeClr>
                </a:solidFill>
                <a:latin typeface="Merriweather" panose="00000500000000000000" pitchFamily="2" charset="0"/>
              </a:rPr>
              <a:t>arámetros</a:t>
            </a:r>
            <a:endParaRPr sz="1950" b="1" i="0" u="none" dirty="0">
              <a:solidFill>
                <a:schemeClr val="tx1">
                  <a:lumMod val="75000"/>
                  <a:lumOff val="25000"/>
                </a:schemeClr>
              </a:solidFill>
              <a:latin typeface="Merriweather" panose="00000500000000000000" pitchFamily="2" charset="0"/>
            </a:endParaRPr>
          </a:p>
        </p:txBody>
      </p:sp>
      <p:sp>
        <p:nvSpPr>
          <p:cNvPr id="17" name="TextBox 6">
            <a:extLst>
              <a:ext uri="{FF2B5EF4-FFF2-40B4-BE49-F238E27FC236}">
                <a16:creationId xmlns:a16="http://schemas.microsoft.com/office/drawing/2014/main" id="{563DD1EE-CE74-E045-93CD-5D6030E96048}"/>
              </a:ext>
            </a:extLst>
          </p:cNvPr>
          <p:cNvSpPr txBox="1"/>
          <p:nvPr/>
        </p:nvSpPr>
        <p:spPr>
          <a:xfrm>
            <a:off x="6572250" y="3356035"/>
            <a:ext cx="4667250" cy="1006942"/>
          </a:xfrm>
          <a:prstGeom prst="rect">
            <a:avLst/>
          </a:prstGeom>
          <a:noFill/>
        </p:spPr>
        <p:txBody>
          <a:bodyPr wrap="square" lIns="0" tIns="0" rIns="0" bIns="0" anchor="t">
            <a:spAutoFit/>
          </a:bodyPr>
          <a:lstStyle/>
          <a:p>
            <a:pPr algn="ctr">
              <a:lnSpc>
                <a:spcPts val="2025"/>
              </a:lnSpc>
            </a:pPr>
            <a:r>
              <a:rPr sz="1350" b="0" i="0" u="none" dirty="0" err="1">
                <a:solidFill>
                  <a:schemeClr val="tx1">
                    <a:lumMod val="75000"/>
                    <a:lumOff val="25000"/>
                  </a:schemeClr>
                </a:solidFill>
                <a:latin typeface="Merriweather" panose="00000500000000000000" pitchFamily="2" charset="0"/>
              </a:rPr>
              <a:t>Aunque</a:t>
            </a:r>
            <a:r>
              <a:rPr sz="1350" b="0" i="0" u="none" dirty="0">
                <a:solidFill>
                  <a:schemeClr val="tx1">
                    <a:lumMod val="75000"/>
                    <a:lumOff val="25000"/>
                  </a:schemeClr>
                </a:solidFill>
                <a:latin typeface="Merriweather" panose="00000500000000000000" pitchFamily="2" charset="0"/>
              </a:rPr>
              <a:t> el scattering no </a:t>
            </a:r>
            <a:r>
              <a:rPr sz="1350" b="0" i="0" u="none" dirty="0" err="1">
                <a:solidFill>
                  <a:schemeClr val="tx1">
                    <a:lumMod val="75000"/>
                    <a:lumOff val="25000"/>
                  </a:schemeClr>
                </a:solidFill>
                <a:latin typeface="Merriweather" panose="00000500000000000000" pitchFamily="2" charset="0"/>
              </a:rPr>
              <a:t>aprende</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parámetros</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su</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clasificador</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afín</a:t>
            </a:r>
            <a:r>
              <a:rPr sz="1350" b="0" i="0" u="none" dirty="0">
                <a:solidFill>
                  <a:schemeClr val="tx1">
                    <a:lumMod val="75000"/>
                    <a:lumOff val="25000"/>
                  </a:schemeClr>
                </a:solidFill>
                <a:latin typeface="Merriweather" panose="00000500000000000000" pitchFamily="2" charset="0"/>
              </a:rPr>
              <a:t> (PCA) </a:t>
            </a:r>
            <a:r>
              <a:rPr sz="1350" b="0" i="0" u="none" dirty="0" err="1">
                <a:solidFill>
                  <a:schemeClr val="tx1">
                    <a:lumMod val="75000"/>
                    <a:lumOff val="25000"/>
                  </a:schemeClr>
                </a:solidFill>
                <a:latin typeface="Merriweather" panose="00000500000000000000" pitchFamily="2" charset="0"/>
              </a:rPr>
              <a:t>estima</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millones</a:t>
            </a:r>
            <a:r>
              <a:rPr sz="1350" b="0" i="0" u="none" dirty="0">
                <a:solidFill>
                  <a:schemeClr val="tx1">
                    <a:lumMod val="75000"/>
                    <a:lumOff val="25000"/>
                  </a:schemeClr>
                </a:solidFill>
                <a:latin typeface="Merriweather" panose="00000500000000000000" pitchFamily="2" charset="0"/>
              </a:rPr>
              <a:t> de </a:t>
            </a:r>
            <a:r>
              <a:rPr sz="1350" b="0" i="0" u="none" dirty="0" err="1">
                <a:solidFill>
                  <a:schemeClr val="tx1">
                    <a:lumMod val="75000"/>
                    <a:lumOff val="25000"/>
                  </a:schemeClr>
                </a:solidFill>
                <a:latin typeface="Merriweather" panose="00000500000000000000" pitchFamily="2" charset="0"/>
              </a:rPr>
              <a:t>números</a:t>
            </a:r>
            <a:r>
              <a:rPr sz="1350" b="0" i="0" u="none" dirty="0">
                <a:solidFill>
                  <a:schemeClr val="tx1">
                    <a:lumMod val="75000"/>
                    <a:lumOff val="25000"/>
                  </a:schemeClr>
                </a:solidFill>
                <a:latin typeface="Merriweather" panose="00000500000000000000" pitchFamily="2" charset="0"/>
              </a:rPr>
              <a:t> a </a:t>
            </a:r>
            <a:r>
              <a:rPr sz="1350" b="0" i="0" u="none" dirty="0" err="1">
                <a:solidFill>
                  <a:schemeClr val="tx1">
                    <a:lumMod val="75000"/>
                    <a:lumOff val="25000"/>
                  </a:schemeClr>
                </a:solidFill>
                <a:latin typeface="Merriweather" panose="00000500000000000000" pitchFamily="2" charset="0"/>
              </a:rPr>
              <a:t>partir</a:t>
            </a:r>
            <a:r>
              <a:rPr sz="1350" b="0" i="0" u="none" dirty="0">
                <a:solidFill>
                  <a:schemeClr val="tx1">
                    <a:lumMod val="75000"/>
                    <a:lumOff val="25000"/>
                  </a:schemeClr>
                </a:solidFill>
                <a:latin typeface="Merriweather" panose="00000500000000000000" pitchFamily="2" charset="0"/>
              </a:rPr>
              <a:t> de </a:t>
            </a:r>
            <a:r>
              <a:rPr sz="1350" b="0" i="0" u="none" dirty="0" err="1">
                <a:solidFill>
                  <a:schemeClr val="tx1">
                    <a:lumMod val="75000"/>
                    <a:lumOff val="25000"/>
                  </a:schemeClr>
                </a:solidFill>
                <a:latin typeface="Merriweather" panose="00000500000000000000" pitchFamily="2" charset="0"/>
              </a:rPr>
              <a:t>los</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datos</a:t>
            </a:r>
            <a:r>
              <a:rPr sz="1350" b="0" i="0" u="none" dirty="0">
                <a:solidFill>
                  <a:schemeClr val="tx1">
                    <a:lumMod val="75000"/>
                    <a:lumOff val="25000"/>
                  </a:schemeClr>
                </a:solidFill>
                <a:latin typeface="Merriweather" panose="00000500000000000000" pitchFamily="2" charset="0"/>
              </a:rPr>
              <a:t>. El pipeline </a:t>
            </a:r>
            <a:r>
              <a:rPr sz="1350" b="0" i="0" u="none" dirty="0" err="1">
                <a:solidFill>
                  <a:schemeClr val="tx1">
                    <a:lumMod val="75000"/>
                    <a:lumOff val="25000"/>
                  </a:schemeClr>
                </a:solidFill>
                <a:latin typeface="Merriweather" panose="00000500000000000000" pitchFamily="2" charset="0"/>
              </a:rPr>
              <a:t>completo</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maneja</a:t>
            </a:r>
            <a:r>
              <a:rPr sz="1350" b="0" i="0" u="none" dirty="0">
                <a:solidFill>
                  <a:schemeClr val="tx1">
                    <a:lumMod val="75000"/>
                    <a:lumOff val="25000"/>
                  </a:schemeClr>
                </a:solidFill>
                <a:latin typeface="Merriweather" panose="00000500000000000000" pitchFamily="2" charset="0"/>
              </a:rPr>
              <a:t> </a:t>
            </a:r>
            <a:r>
              <a:rPr sz="1350" b="0" i="1" u="none" dirty="0" err="1">
                <a:solidFill>
                  <a:schemeClr val="tx1">
                    <a:lumMod val="75000"/>
                    <a:lumOff val="25000"/>
                  </a:schemeClr>
                </a:solidFill>
                <a:latin typeface="Merriweather" panose="00000500000000000000" pitchFamily="2" charset="0"/>
              </a:rPr>
              <a:t>más</a:t>
            </a:r>
            <a:r>
              <a:rPr sz="1350" b="0" i="0" u="none" dirty="0">
                <a:solidFill>
                  <a:schemeClr val="tx1">
                    <a:lumMod val="75000"/>
                    <a:lumOff val="25000"/>
                  </a:schemeClr>
                </a:solidFill>
                <a:latin typeface="Merriweather" panose="00000500000000000000" pitchFamily="2" charset="0"/>
              </a:rPr>
              <a:t> variables </a:t>
            </a:r>
            <a:r>
              <a:rPr sz="1350" b="0" i="0" u="none" dirty="0" err="1">
                <a:solidFill>
                  <a:schemeClr val="tx1">
                    <a:lumMod val="75000"/>
                    <a:lumOff val="25000"/>
                  </a:schemeClr>
                </a:solidFill>
                <a:latin typeface="Merriweather" panose="00000500000000000000" pitchFamily="2" charset="0"/>
              </a:rPr>
              <a:t>que</a:t>
            </a:r>
            <a:r>
              <a:rPr sz="1350" b="0" i="0" u="none" dirty="0">
                <a:solidFill>
                  <a:schemeClr val="tx1">
                    <a:lumMod val="75000"/>
                    <a:lumOff val="25000"/>
                  </a:schemeClr>
                </a:solidFill>
                <a:latin typeface="Merriweather" panose="00000500000000000000" pitchFamily="2" charset="0"/>
              </a:rPr>
              <a:t> </a:t>
            </a:r>
            <a:r>
              <a:rPr sz="1350" b="0" i="0" u="none" dirty="0" err="1">
                <a:solidFill>
                  <a:schemeClr val="tx1">
                    <a:lumMod val="75000"/>
                    <a:lumOff val="25000"/>
                  </a:schemeClr>
                </a:solidFill>
                <a:latin typeface="Merriweather" panose="00000500000000000000" pitchFamily="2" charset="0"/>
              </a:rPr>
              <a:t>los</a:t>
            </a:r>
            <a:r>
              <a:rPr sz="1350" b="0" i="0" u="none" dirty="0">
                <a:solidFill>
                  <a:schemeClr val="tx1">
                    <a:lumMod val="75000"/>
                    <a:lumOff val="25000"/>
                  </a:schemeClr>
                </a:solidFill>
                <a:latin typeface="Merriweather" panose="00000500000000000000" pitchFamily="2" charset="0"/>
              </a:rPr>
              <a:t> </a:t>
            </a:r>
            <a:r>
              <a:rPr lang="en-US" sz="1350" dirty="0">
                <a:solidFill>
                  <a:schemeClr val="tx1">
                    <a:lumMod val="75000"/>
                    <a:lumOff val="25000"/>
                  </a:schemeClr>
                </a:solidFill>
                <a:latin typeface="Merriweather" panose="00000500000000000000" pitchFamily="2" charset="0"/>
              </a:rPr>
              <a:t>pesos</a:t>
            </a:r>
            <a:r>
              <a:rPr sz="1350" b="0" i="0" u="none" dirty="0">
                <a:solidFill>
                  <a:schemeClr val="tx1">
                    <a:lumMod val="75000"/>
                    <a:lumOff val="25000"/>
                  </a:schemeClr>
                </a:solidFill>
                <a:latin typeface="Merriweather" panose="00000500000000000000" pitchFamily="2" charset="0"/>
              </a:rPr>
              <a:t> de la CNN </a:t>
            </a:r>
            <a:r>
              <a:rPr sz="1350" b="0" i="0" u="none" dirty="0" err="1">
                <a:solidFill>
                  <a:schemeClr val="tx1">
                    <a:lumMod val="75000"/>
                    <a:lumOff val="25000"/>
                  </a:schemeClr>
                </a:solidFill>
                <a:latin typeface="Merriweather" panose="00000500000000000000" pitchFamily="2" charset="0"/>
              </a:rPr>
              <a:t>entrenada</a:t>
            </a:r>
            <a:r>
              <a:rPr sz="1350" b="0" i="0" u="none" dirty="0">
                <a:solidFill>
                  <a:schemeClr val="tx1">
                    <a:lumMod val="75000"/>
                    <a:lumOff val="25000"/>
                  </a:schemeClr>
                </a:solidFill>
                <a:latin typeface="Merriweather" panose="00000500000000000000" pitchFamily="2" charset="0"/>
              </a:rPr>
              <a:t>.</a:t>
            </a:r>
          </a:p>
        </p:txBody>
      </p:sp>
    </p:spTree>
    <p:extLst>
      <p:ext uri="{BB962C8B-B14F-4D97-AF65-F5344CB8AC3E}">
        <p14:creationId xmlns:p14="http://schemas.microsoft.com/office/powerpoint/2010/main" val="52665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BDEC17D-BA86-29D7-3270-17A16EBE4E0A}"/>
            </a:ext>
          </a:extLst>
        </p:cNvPr>
        <p:cNvGrpSpPr/>
        <p:nvPr/>
      </p:nvGrpSpPr>
      <p:grpSpPr>
        <a:xfrm>
          <a:off x="0" y="0"/>
          <a:ext cx="0" cy="0"/>
          <a:chOff x="0" y="0"/>
          <a:chExt cx="0" cy="0"/>
        </a:xfrm>
      </p:grpSpPr>
      <p:sp>
        <p:nvSpPr>
          <p:cNvPr id="5" name="TextBox 10">
            <a:extLst>
              <a:ext uri="{FF2B5EF4-FFF2-40B4-BE49-F238E27FC236}">
                <a16:creationId xmlns:a16="http://schemas.microsoft.com/office/drawing/2014/main" id="{E6F61933-49FA-E2A2-70DD-ECDBD7D80E21}"/>
              </a:ext>
            </a:extLst>
          </p:cNvPr>
          <p:cNvSpPr txBox="1"/>
          <p:nvPr/>
        </p:nvSpPr>
        <p:spPr>
          <a:xfrm>
            <a:off x="3869621" y="590190"/>
            <a:ext cx="4452758" cy="553998"/>
          </a:xfrm>
          <a:prstGeom prst="rect">
            <a:avLst/>
          </a:prstGeom>
          <a:noFill/>
        </p:spPr>
        <p:txBody>
          <a:bodyPr wrap="square" lIns="0" tIns="0" rIns="0" bIns="0" anchor="t">
            <a:spAutoFit/>
          </a:bodyPr>
          <a:lstStyle/>
          <a:p>
            <a:pPr algn="ctr"/>
            <a:r>
              <a:rPr lang="es-ES" sz="3600" b="1" dirty="0">
                <a:solidFill>
                  <a:srgbClr val="002B49"/>
                </a:solidFill>
                <a:latin typeface="Merriweather"/>
              </a:rPr>
              <a:t>Conclusiones</a:t>
            </a:r>
            <a:endParaRPr lang="es-ES" sz="3450" b="1" dirty="0">
              <a:solidFill>
                <a:srgbClr val="002B49"/>
              </a:solidFill>
              <a:latin typeface="Merriweather"/>
            </a:endParaRPr>
          </a:p>
        </p:txBody>
      </p:sp>
      <p:sp>
        <p:nvSpPr>
          <p:cNvPr id="3" name="TextBox 3">
            <a:extLst>
              <a:ext uri="{FF2B5EF4-FFF2-40B4-BE49-F238E27FC236}">
                <a16:creationId xmlns:a16="http://schemas.microsoft.com/office/drawing/2014/main" id="{36024CD9-5135-5D7A-2CFA-63F72CE88A0E}"/>
              </a:ext>
            </a:extLst>
          </p:cNvPr>
          <p:cNvSpPr txBox="1"/>
          <p:nvPr/>
        </p:nvSpPr>
        <p:spPr>
          <a:xfrm>
            <a:off x="1809750" y="1940034"/>
            <a:ext cx="8572500" cy="3306033"/>
          </a:xfrm>
          <a:prstGeom prst="rect">
            <a:avLst/>
          </a:prstGeom>
          <a:noFill/>
        </p:spPr>
        <p:txBody>
          <a:bodyPr wrap="square" lIns="0" tIns="0" rIns="0" bIns="0" anchor="t">
            <a:spAutoFit/>
          </a:bodyPr>
          <a:lstStyle/>
          <a:p>
            <a:pPr>
              <a:lnSpc>
                <a:spcPts val="2640"/>
              </a:lnSpc>
            </a:pPr>
            <a:r>
              <a:rPr lang="es-ES" sz="1650" dirty="0">
                <a:latin typeface="Merriweather" panose="00000500000000000000" pitchFamily="2" charset="0"/>
              </a:rPr>
              <a:t>Se replico sobre MNIST el experimento de pocos datos de Bruna y Mallat con código propio, y las cifras coinciden con las suyas dentro de unas pocas décimas. La hipótesis central, que una representación sin parámetros aprendidos mejora a una red entrenada cuando hay pocos datos, se sostiene, pero en un margen más estrecho de lo que sugiere el artículo original, es clara entre 1000 y 2000 muestras y se desvanece en los dos extremos. </a:t>
            </a:r>
          </a:p>
          <a:p>
            <a:pPr>
              <a:lnSpc>
                <a:spcPts val="2640"/>
              </a:lnSpc>
            </a:pPr>
            <a:r>
              <a:rPr lang="es-ES" sz="1650" dirty="0">
                <a:latin typeface="Merriweather" panose="00000500000000000000" pitchFamily="2" charset="0"/>
              </a:rPr>
              <a:t>Por un lado, la ventaja del </a:t>
            </a:r>
            <a:r>
              <a:rPr lang="es-ES" sz="1650" dirty="0" err="1">
                <a:latin typeface="Merriweather" panose="00000500000000000000" pitchFamily="2" charset="0"/>
              </a:rPr>
              <a:t>scattering</a:t>
            </a:r>
            <a:r>
              <a:rPr lang="es-ES" sz="1650" dirty="0">
                <a:latin typeface="Merriweather" panose="00000500000000000000" pitchFamily="2" charset="0"/>
              </a:rPr>
              <a:t> se ha reducido frente a 2013, y casi todo el cambio viene de que entrenar redes convolucionales mejoró. Por otro lado, con muy pocos datos el error es tan variable (cuatro veces el de la red) que deja de ser confiable.</a:t>
            </a:r>
            <a:endParaRPr sz="1650" b="1" i="0" u="none" dirty="0">
              <a:latin typeface="Merriweather" panose="00000500000000000000" pitchFamily="2" charset="0"/>
            </a:endParaRPr>
          </a:p>
        </p:txBody>
      </p:sp>
    </p:spTree>
    <p:extLst>
      <p:ext uri="{BB962C8B-B14F-4D97-AF65-F5344CB8AC3E}">
        <p14:creationId xmlns:p14="http://schemas.microsoft.com/office/powerpoint/2010/main" val="1772425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1512</Words>
  <Application>Microsoft Office PowerPoint</Application>
  <PresentationFormat>Panorámica</PresentationFormat>
  <Paragraphs>84</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Merriweather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Andres Barreto</cp:lastModifiedBy>
  <cp:revision>5</cp:revision>
  <dcterms:created xsi:type="dcterms:W3CDTF">2026-07-30T00:17:35Z</dcterms:created>
  <dcterms:modified xsi:type="dcterms:W3CDTF">2026-07-30T05:31:47Z</dcterms:modified>
</cp:coreProperties>
</file>